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17"/>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392" autoAdjust="0"/>
  </p:normalViewPr>
  <p:slideViewPr>
    <p:cSldViewPr snapToGrid="0">
      <p:cViewPr>
        <p:scale>
          <a:sx n="66" d="100"/>
          <a:sy n="66" d="100"/>
        </p:scale>
        <p:origin x="4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98D305-8497-438E-A74F-0EC10BAFA49F}"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CC148C-F1F0-41C4-9FF2-94560E378303}" type="slidenum">
              <a:rPr lang="en-US" smtClean="0"/>
              <a:t>‹#›</a:t>
            </a:fld>
            <a:endParaRPr lang="en-US"/>
          </a:p>
        </p:txBody>
      </p:sp>
    </p:spTree>
    <p:extLst>
      <p:ext uri="{BB962C8B-B14F-4D97-AF65-F5344CB8AC3E}">
        <p14:creationId xmlns:p14="http://schemas.microsoft.com/office/powerpoint/2010/main" val="483126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i="1" dirty="0"/>
              <a:t>Fase 1:</a:t>
            </a:r>
            <a:r>
              <a:rPr lang="es-ES" dirty="0"/>
              <a:t> Ingesta y limpieza de datos.</a:t>
            </a:r>
          </a:p>
          <a:p>
            <a:r>
              <a:rPr lang="es-ES" i="1" dirty="0"/>
              <a:t>Fase 2:</a:t>
            </a:r>
            <a:r>
              <a:rPr lang="es-ES" dirty="0"/>
              <a:t> Ingeniería de características (Volatilidad, VaR, Sharpe, etc.) y reducción de dimensiones.</a:t>
            </a:r>
          </a:p>
          <a:p>
            <a:r>
              <a:rPr lang="es-ES" i="1" dirty="0"/>
              <a:t>Fase 3:</a:t>
            </a:r>
            <a:r>
              <a:rPr lang="es-ES" dirty="0"/>
              <a:t> </a:t>
            </a:r>
            <a:r>
              <a:rPr lang="es-ES" dirty="0" err="1"/>
              <a:t>Clustering</a:t>
            </a:r>
            <a:r>
              <a:rPr lang="es-ES" dirty="0"/>
              <a:t> Híbrido + Optimización (PSO/GA).</a:t>
            </a:r>
          </a:p>
          <a:p>
            <a:r>
              <a:rPr lang="es-ES" i="1" dirty="0"/>
              <a:t>Fase 4:</a:t>
            </a:r>
            <a:r>
              <a:rPr lang="es-ES" dirty="0"/>
              <a:t> Predicción (Redes Neuronales) y Portafolio (Markowitz).</a:t>
            </a:r>
          </a:p>
          <a:p>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3</a:t>
            </a:fld>
            <a:endParaRPr lang="en-US"/>
          </a:p>
        </p:txBody>
      </p:sp>
    </p:spTree>
    <p:extLst>
      <p:ext uri="{BB962C8B-B14F-4D97-AF65-F5344CB8AC3E}">
        <p14:creationId xmlns:p14="http://schemas.microsoft.com/office/powerpoint/2010/main" val="23762179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kern="1200" dirty="0">
                <a:solidFill>
                  <a:schemeClr val="tx1"/>
                </a:solidFill>
                <a:effectLst/>
                <a:latin typeface="+mn-lt"/>
                <a:ea typeface="+mn-ea"/>
                <a:cs typeface="+mn-cs"/>
              </a:rPr>
              <a:t>Para entrenar y validar los modelos de clasificación, necesitábamos etiquetas. Como los datos financieros no vienen etiquetados, construimos un "</a:t>
            </a:r>
            <a:r>
              <a:rPr lang="es-ES" sz="1200" b="0" i="0" kern="1200" dirty="0" err="1">
                <a:solidFill>
                  <a:schemeClr val="tx1"/>
                </a:solidFill>
                <a:effectLst/>
                <a:latin typeface="+mn-lt"/>
                <a:ea typeface="+mn-ea"/>
                <a:cs typeface="+mn-cs"/>
              </a:rPr>
              <a:t>Ground</a:t>
            </a:r>
            <a:r>
              <a:rPr lang="es-ES" sz="1200" b="0" i="0" kern="1200" dirty="0">
                <a:solidFill>
                  <a:schemeClr val="tx1"/>
                </a:solidFill>
                <a:effectLst/>
                <a:latin typeface="+mn-lt"/>
                <a:ea typeface="+mn-ea"/>
                <a:cs typeface="+mn-cs"/>
              </a:rPr>
              <a:t> </a:t>
            </a:r>
            <a:r>
              <a:rPr lang="es-ES" sz="1200" b="0" i="0" kern="1200" dirty="0" err="1">
                <a:solidFill>
                  <a:schemeClr val="tx1"/>
                </a:solidFill>
                <a:effectLst/>
                <a:latin typeface="+mn-lt"/>
                <a:ea typeface="+mn-ea"/>
                <a:cs typeface="+mn-cs"/>
              </a:rPr>
              <a:t>Truth</a:t>
            </a:r>
            <a:r>
              <a:rPr lang="es-ES" sz="1200" b="0" i="0" kern="1200" dirty="0">
                <a:solidFill>
                  <a:schemeClr val="tx1"/>
                </a:solidFill>
                <a:effectLst/>
                <a:latin typeface="+mn-lt"/>
                <a:ea typeface="+mn-ea"/>
                <a:cs typeface="+mn-cs"/>
              </a:rPr>
              <a:t>" matemático basado en un score ponderado de riesgo.</a:t>
            </a:r>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4</a:t>
            </a:fld>
            <a:endParaRPr lang="en-US"/>
          </a:p>
        </p:txBody>
      </p:sp>
    </p:spTree>
    <p:extLst>
      <p:ext uri="{BB962C8B-B14F-4D97-AF65-F5344CB8AC3E}">
        <p14:creationId xmlns:p14="http://schemas.microsoft.com/office/powerpoint/2010/main" val="484986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kern="1200" dirty="0">
                <a:solidFill>
                  <a:schemeClr val="tx1"/>
                </a:solidFill>
                <a:effectLst/>
                <a:latin typeface="+mn-lt"/>
                <a:ea typeface="+mn-ea"/>
                <a:cs typeface="+mn-cs"/>
              </a:rPr>
              <a:t>Se evaluaron 6 paradigmas diferentes. La Red Competitiva y el SOM son los componentes "neuronales" clave de esta fase, compitiendo contra métodos clásicos como K-</a:t>
            </a:r>
            <a:r>
              <a:rPr lang="es-ES" sz="1200" b="0" i="0" kern="1200" dirty="0" err="1">
                <a:solidFill>
                  <a:schemeClr val="tx1"/>
                </a:solidFill>
                <a:effectLst/>
                <a:latin typeface="+mn-lt"/>
                <a:ea typeface="+mn-ea"/>
                <a:cs typeface="+mn-cs"/>
              </a:rPr>
              <a:t>Means</a:t>
            </a:r>
            <a:r>
              <a:rPr lang="es-E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5</a:t>
            </a:fld>
            <a:endParaRPr lang="en-US"/>
          </a:p>
        </p:txBody>
      </p:sp>
    </p:spTree>
    <p:extLst>
      <p:ext uri="{BB962C8B-B14F-4D97-AF65-F5344CB8AC3E}">
        <p14:creationId xmlns:p14="http://schemas.microsoft.com/office/powerpoint/2010/main" val="2469833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kern="1200" dirty="0">
                <a:solidFill>
                  <a:schemeClr val="tx1"/>
                </a:solidFill>
                <a:effectLst/>
                <a:latin typeface="+mn-lt"/>
                <a:ea typeface="+mn-ea"/>
                <a:cs typeface="+mn-cs"/>
              </a:rPr>
              <a:t>Aquí está la innovación principal. No solo usamos una red neuronal, sino que usamos inteligencia de enjambre (PSO) para entrenarla mejor que el descenso de gradiente estándar, y algoritmos genéticos para combinar múltiples modelos.</a:t>
            </a:r>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6</a:t>
            </a:fld>
            <a:endParaRPr lang="en-US"/>
          </a:p>
        </p:txBody>
      </p:sp>
    </p:spTree>
    <p:extLst>
      <p:ext uri="{BB962C8B-B14F-4D97-AF65-F5344CB8AC3E}">
        <p14:creationId xmlns:p14="http://schemas.microsoft.com/office/powerpoint/2010/main" val="2732644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kern="1200" dirty="0">
                <a:solidFill>
                  <a:schemeClr val="tx1"/>
                </a:solidFill>
                <a:effectLst/>
                <a:latin typeface="+mn-lt"/>
                <a:ea typeface="+mn-ea"/>
                <a:cs typeface="+mn-cs"/>
              </a:rPr>
              <a:t>Probamos tres niveles de complejidad: Lineal (ADALINE), No Lineal (MLP) y Secuencial Profundo (LSTM) para ver cuál modelaba mejor el precio de los activos seleccionados.</a:t>
            </a:r>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7</a:t>
            </a:fld>
            <a:endParaRPr lang="en-US"/>
          </a:p>
        </p:txBody>
      </p:sp>
    </p:spTree>
    <p:extLst>
      <p:ext uri="{BB962C8B-B14F-4D97-AF65-F5344CB8AC3E}">
        <p14:creationId xmlns:p14="http://schemas.microsoft.com/office/powerpoint/2010/main" val="30406183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0" i="0" kern="1200" dirty="0">
                <a:solidFill>
                  <a:schemeClr val="tx1"/>
                </a:solidFill>
                <a:effectLst/>
                <a:latin typeface="+mn-lt"/>
                <a:ea typeface="+mn-ea"/>
                <a:cs typeface="+mn-cs"/>
              </a:rPr>
              <a:t>La optimización metaheurística fue decisiva. Es interesante notar que los métodos con mejor estructura geométrica (</a:t>
            </a:r>
            <a:r>
              <a:rPr lang="es-ES" sz="1200" b="0" i="0" kern="1200" dirty="0" err="1">
                <a:solidFill>
                  <a:schemeClr val="tx1"/>
                </a:solidFill>
                <a:effectLst/>
                <a:latin typeface="+mn-lt"/>
                <a:ea typeface="+mn-ea"/>
                <a:cs typeface="+mn-cs"/>
              </a:rPr>
              <a:t>Silhouette</a:t>
            </a:r>
            <a:r>
              <a:rPr lang="es-ES" sz="1200" b="0" i="0" kern="1200" dirty="0">
                <a:solidFill>
                  <a:schemeClr val="tx1"/>
                </a:solidFill>
                <a:effectLst/>
                <a:latin typeface="+mn-lt"/>
                <a:ea typeface="+mn-ea"/>
                <a:cs typeface="+mn-cs"/>
              </a:rPr>
              <a:t>) no necesariamente clasificaban mejor el riesgo financiero, demostrando la complejidad del mercado</a:t>
            </a:r>
            <a:br>
              <a:rPr lang="es-ES" sz="1200" b="0" i="0" kern="1200" dirty="0">
                <a:solidFill>
                  <a:schemeClr val="tx1"/>
                </a:solidFill>
                <a:effectLst/>
                <a:latin typeface="+mn-lt"/>
                <a:ea typeface="+mn-ea"/>
                <a:cs typeface="+mn-cs"/>
              </a:rPr>
            </a:br>
            <a:br>
              <a:rPr lang="es-ES" sz="1200" b="0" i="0" kern="1200" dirty="0">
                <a:solidFill>
                  <a:schemeClr val="tx1"/>
                </a:solidFill>
                <a:effectLst/>
                <a:latin typeface="+mn-lt"/>
                <a:ea typeface="+mn-ea"/>
                <a:cs typeface="+mn-cs"/>
              </a:rPr>
            </a:br>
            <a:r>
              <a:rPr lang="es-ES" dirty="0"/>
              <a:t>El modelo </a:t>
            </a:r>
            <a:r>
              <a:rPr lang="es-ES" dirty="0" err="1"/>
              <a:t>RedCompPSO</a:t>
            </a:r>
            <a:r>
              <a:rPr lang="es-ES" dirty="0"/>
              <a:t> (Red Competitiva optimizada con PSO) alcanza el mejor desempeño con un F1-Score de 0.9166, superando significativamente a todos los demás métodos. La optimización PSO mejora el F1-Score de la red competitiva base de 0.8331 a 0.9166, representando una mejora del 10.02%. </a:t>
            </a:r>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8</a:t>
            </a:fld>
            <a:endParaRPr lang="en-US"/>
          </a:p>
        </p:txBody>
      </p:sp>
    </p:spTree>
    <p:extLst>
      <p:ext uri="{BB962C8B-B14F-4D97-AF65-F5344CB8AC3E}">
        <p14:creationId xmlns:p14="http://schemas.microsoft.com/office/powerpoint/2010/main" val="3751010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9</a:t>
            </a:fld>
            <a:endParaRPr lang="en-US"/>
          </a:p>
        </p:txBody>
      </p:sp>
    </p:spTree>
    <p:extLst>
      <p:ext uri="{BB962C8B-B14F-4D97-AF65-F5344CB8AC3E}">
        <p14:creationId xmlns:p14="http://schemas.microsoft.com/office/powerpoint/2010/main" val="31947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Evolución temporal del valor del portafolio ($100 iniciales) para las estrategias Markowitz y PSO. Ambas líneas se superponen debido a la convergencia a pesos idénticos. El portafolio creció de $100 a aproximadamente $350 en el período analizado (1500 días).</a:t>
            </a:r>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11</a:t>
            </a:fld>
            <a:endParaRPr lang="en-US"/>
          </a:p>
        </p:txBody>
      </p:sp>
    </p:spTree>
    <p:extLst>
      <p:ext uri="{BB962C8B-B14F-4D97-AF65-F5344CB8AC3E}">
        <p14:creationId xmlns:p14="http://schemas.microsoft.com/office/powerpoint/2010/main" val="2550828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12</a:t>
            </a:fld>
            <a:endParaRPr lang="en-US"/>
          </a:p>
        </p:txBody>
      </p:sp>
    </p:spTree>
    <p:extLst>
      <p:ext uri="{BB962C8B-B14F-4D97-AF65-F5344CB8AC3E}">
        <p14:creationId xmlns:p14="http://schemas.microsoft.com/office/powerpoint/2010/main" val="3117728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CC148C-F1F0-41C4-9FF2-94560E378303}" type="slidenum">
              <a:rPr lang="en-US" smtClean="0"/>
              <a:t>14</a:t>
            </a:fld>
            <a:endParaRPr lang="en-US"/>
          </a:p>
        </p:txBody>
      </p:sp>
    </p:spTree>
    <p:extLst>
      <p:ext uri="{BB962C8B-B14F-4D97-AF65-F5344CB8AC3E}">
        <p14:creationId xmlns:p14="http://schemas.microsoft.com/office/powerpoint/2010/main" val="474956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2397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55387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567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0272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8556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40828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3326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3592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5911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94104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12/5/2025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9707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12/5/2025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6639763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 circular pattern with dots and lines&#10;&#10;AI-generated content may be incorrect.">
            <a:extLst>
              <a:ext uri="{FF2B5EF4-FFF2-40B4-BE49-F238E27FC236}">
                <a16:creationId xmlns:a16="http://schemas.microsoft.com/office/drawing/2014/main" id="{E39CF02B-ECDB-D543-DB4F-C96A3D5B74C8}"/>
              </a:ext>
            </a:extLst>
          </p:cNvPr>
          <p:cNvPicPr>
            <a:picLocks noChangeAspect="1"/>
          </p:cNvPicPr>
          <p:nvPr/>
        </p:nvPicPr>
        <p:blipFill>
          <a:blip r:embed="rId2"/>
          <a:srcRect t="7226" r="9091" b="7547"/>
          <a:stretch>
            <a:fillRect/>
          </a:stretch>
        </p:blipFill>
        <p:spPr>
          <a:xfrm>
            <a:off x="20" y="10"/>
            <a:ext cx="12191979" cy="6857989"/>
          </a:xfrm>
          <a:prstGeom prst="rect">
            <a:avLst/>
          </a:prstGeom>
        </p:spPr>
      </p:pic>
      <p:sp>
        <p:nvSpPr>
          <p:cNvPr id="20" name="Rectangle 19">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5D8C39E-549E-572F-4DF3-290A70D7B93A}"/>
              </a:ext>
            </a:extLst>
          </p:cNvPr>
          <p:cNvSpPr>
            <a:spLocks noGrp="1"/>
          </p:cNvSpPr>
          <p:nvPr>
            <p:ph type="ctrTitle"/>
          </p:nvPr>
        </p:nvSpPr>
        <p:spPr>
          <a:xfrm>
            <a:off x="438910" y="978408"/>
            <a:ext cx="4795819" cy="3969960"/>
          </a:xfrm>
        </p:spPr>
        <p:txBody>
          <a:bodyPr anchor="t">
            <a:normAutofit/>
          </a:bodyPr>
          <a:lstStyle/>
          <a:p>
            <a:pPr>
              <a:lnSpc>
                <a:spcPct val="90000"/>
              </a:lnSpc>
            </a:pPr>
            <a:r>
              <a:rPr lang="es-ES" sz="4600" dirty="0"/>
              <a:t>Sistema Híbrido para Clasificación de Riesgo y Predicción Financiera.</a:t>
            </a:r>
            <a:endParaRPr lang="en-US" sz="4600" dirty="0"/>
          </a:p>
        </p:txBody>
      </p:sp>
      <p:sp>
        <p:nvSpPr>
          <p:cNvPr id="3" name="Subtitle 2">
            <a:extLst>
              <a:ext uri="{FF2B5EF4-FFF2-40B4-BE49-F238E27FC236}">
                <a16:creationId xmlns:a16="http://schemas.microsoft.com/office/drawing/2014/main" id="{E6A49585-F768-01D9-3047-9A2ADF0DC4A1}"/>
              </a:ext>
            </a:extLst>
          </p:cNvPr>
          <p:cNvSpPr>
            <a:spLocks noGrp="1"/>
          </p:cNvSpPr>
          <p:nvPr>
            <p:ph type="subTitle" idx="1"/>
          </p:nvPr>
        </p:nvSpPr>
        <p:spPr>
          <a:xfrm>
            <a:off x="438910" y="5269407"/>
            <a:ext cx="4381634" cy="1157436"/>
          </a:xfrm>
        </p:spPr>
        <p:txBody>
          <a:bodyPr anchor="b">
            <a:normAutofit fontScale="47500" lnSpcReduction="20000"/>
          </a:bodyPr>
          <a:lstStyle/>
          <a:p>
            <a:r>
              <a:rPr lang="en-US" sz="2400" dirty="0"/>
              <a:t>Santiago Ortiz García </a:t>
            </a:r>
          </a:p>
          <a:p>
            <a:r>
              <a:rPr lang="en-US" sz="2400" dirty="0"/>
              <a:t>Paula Inés Pelayo Morales </a:t>
            </a:r>
          </a:p>
          <a:p>
            <a:r>
              <a:rPr lang="en-US" sz="2400" dirty="0"/>
              <a:t>Roberto Carlos Guzmán </a:t>
            </a:r>
            <a:r>
              <a:rPr lang="en-US" sz="2400" dirty="0" err="1"/>
              <a:t>Orduño</a:t>
            </a:r>
            <a:r>
              <a:rPr lang="en-US" sz="2400" dirty="0"/>
              <a:t> </a:t>
            </a:r>
          </a:p>
          <a:p>
            <a:r>
              <a:rPr lang="en-US" sz="2400" dirty="0"/>
              <a:t>Christopher Jacob Ahumada Robles</a:t>
            </a:r>
          </a:p>
          <a:p>
            <a:endParaRPr lang="en-US" sz="2400" dirty="0"/>
          </a:p>
        </p:txBody>
      </p:sp>
      <p:sp>
        <p:nvSpPr>
          <p:cNvPr id="22" name="Rectangle 21">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3394106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2BE6B78-9016-B365-A251-81F357AFB398}"/>
              </a:ext>
            </a:extLst>
          </p:cNvPr>
          <p:cNvSpPr>
            <a:spLocks noGrp="1"/>
          </p:cNvSpPr>
          <p:nvPr>
            <p:ph type="title"/>
          </p:nvPr>
        </p:nvSpPr>
        <p:spPr>
          <a:xfrm>
            <a:off x="521208" y="978408"/>
            <a:ext cx="4754880" cy="1463040"/>
          </a:xfrm>
        </p:spPr>
        <p:txBody>
          <a:bodyPr>
            <a:normAutofit/>
          </a:bodyPr>
          <a:lstStyle/>
          <a:p>
            <a:pPr>
              <a:lnSpc>
                <a:spcPct val="90000"/>
              </a:lnSpc>
            </a:pPr>
            <a:r>
              <a:rPr lang="es-ES" sz="3400"/>
              <a:t>Definición del Problema y Objetivos</a:t>
            </a:r>
            <a:endParaRPr lang="en-US" sz="3400"/>
          </a:p>
        </p:txBody>
      </p:sp>
      <p:sp>
        <p:nvSpPr>
          <p:cNvPr id="19" name="Rectangle 18">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Content Placeholder 2">
            <a:extLst>
              <a:ext uri="{FF2B5EF4-FFF2-40B4-BE49-F238E27FC236}">
                <a16:creationId xmlns:a16="http://schemas.microsoft.com/office/drawing/2014/main" id="{3AAF7169-8D9A-E08F-4165-00997A26C008}"/>
              </a:ext>
            </a:extLst>
          </p:cNvPr>
          <p:cNvSpPr>
            <a:spLocks noGrp="1"/>
          </p:cNvSpPr>
          <p:nvPr>
            <p:ph idx="1"/>
          </p:nvPr>
        </p:nvSpPr>
        <p:spPr>
          <a:xfrm>
            <a:off x="521208" y="2578608"/>
            <a:ext cx="4672584" cy="3767328"/>
          </a:xfrm>
        </p:spPr>
        <p:txBody>
          <a:bodyPr>
            <a:normAutofit/>
          </a:bodyPr>
          <a:lstStyle/>
          <a:p>
            <a:pPr>
              <a:lnSpc>
                <a:spcPct val="100000"/>
              </a:lnSpc>
            </a:pPr>
            <a:r>
              <a:rPr lang="es-ES" b="1"/>
              <a:t>El Desafío:</a:t>
            </a:r>
            <a:r>
              <a:rPr lang="es-ES"/>
              <a:t> Caracterizar activos financieros (riesgo-retorno) y predecir sus precios para tomar decisiones de inversión.</a:t>
            </a:r>
          </a:p>
          <a:p>
            <a:pPr marL="0" lvl="0" indent="0" eaLnBrk="0" fontAlgn="base" hangingPunct="0">
              <a:lnSpc>
                <a:spcPct val="100000"/>
              </a:lnSpc>
              <a:spcBef>
                <a:spcPct val="0"/>
              </a:spcBef>
              <a:spcAft>
                <a:spcPct val="0"/>
              </a:spcAft>
              <a:buNone/>
            </a:pPr>
            <a:endParaRPr lang="en-US" altLang="en-US" b="1">
              <a:latin typeface="Arial" panose="020B0604020202020204" pitchFamily="34" charset="0"/>
            </a:endParaRPr>
          </a:p>
          <a:p>
            <a:pPr marL="0" lvl="0" indent="0" eaLnBrk="0" fontAlgn="base" hangingPunct="0">
              <a:lnSpc>
                <a:spcPct val="100000"/>
              </a:lnSpc>
              <a:spcBef>
                <a:spcPct val="0"/>
              </a:spcBef>
              <a:spcAft>
                <a:spcPct val="0"/>
              </a:spcAft>
              <a:buNone/>
            </a:pPr>
            <a:r>
              <a:rPr lang="es-ES" b="1"/>
              <a:t>Objetivos del Sistema (3 Pilares):</a:t>
            </a:r>
          </a:p>
          <a:p>
            <a:pPr marL="0" lvl="0" indent="0" eaLnBrk="0" fontAlgn="base" hangingPunct="0">
              <a:lnSpc>
                <a:spcPct val="100000"/>
              </a:lnSpc>
              <a:spcBef>
                <a:spcPct val="0"/>
              </a:spcBef>
              <a:spcAft>
                <a:spcPct val="0"/>
              </a:spcAft>
              <a:buNone/>
            </a:pPr>
            <a:endParaRPr lang="en-US" altLang="en-US" b="1"/>
          </a:p>
          <a:p>
            <a:pPr marL="0" lvl="0" indent="0" eaLnBrk="0" fontAlgn="base" hangingPunct="0">
              <a:lnSpc>
                <a:spcPct val="100000"/>
              </a:lnSpc>
              <a:spcBef>
                <a:spcPct val="0"/>
              </a:spcBef>
              <a:spcAft>
                <a:spcPct val="0"/>
              </a:spcAft>
              <a:buNone/>
            </a:pPr>
            <a:r>
              <a:rPr lang="en-US" altLang="en-US" b="1"/>
              <a:t>Clustering:</a:t>
            </a:r>
            <a:r>
              <a:rPr lang="en-US" altLang="en-US"/>
              <a:t> Agrupar activos por perfil de riesgo (Conservador a Muy Arriesgado).</a:t>
            </a:r>
          </a:p>
          <a:p>
            <a:pPr marL="0" lvl="0" indent="0" eaLnBrk="0" fontAlgn="base" hangingPunct="0">
              <a:lnSpc>
                <a:spcPct val="100000"/>
              </a:lnSpc>
              <a:spcBef>
                <a:spcPct val="0"/>
              </a:spcBef>
              <a:spcAft>
                <a:spcPct val="0"/>
              </a:spcAft>
              <a:buNone/>
            </a:pPr>
            <a:r>
              <a:rPr lang="en-US" altLang="en-US" b="1"/>
              <a:t>Predicción:</a:t>
            </a:r>
            <a:r>
              <a:rPr lang="en-US" altLang="en-US"/>
              <a:t> Estimar precios futuros usando series temporales.</a:t>
            </a:r>
          </a:p>
          <a:p>
            <a:pPr marL="0" lvl="0" indent="0" eaLnBrk="0" fontAlgn="base" hangingPunct="0">
              <a:lnSpc>
                <a:spcPct val="100000"/>
              </a:lnSpc>
              <a:spcBef>
                <a:spcPct val="0"/>
              </a:spcBef>
              <a:spcAft>
                <a:spcPct val="0"/>
              </a:spcAft>
              <a:buNone/>
            </a:pPr>
            <a:r>
              <a:rPr lang="en-US" altLang="en-US" b="1"/>
              <a:t>Optimización:</a:t>
            </a:r>
            <a:r>
              <a:rPr lang="en-US" altLang="en-US"/>
              <a:t> Crear un portafolio que maximice el Ratio de Sharpe.</a:t>
            </a:r>
          </a:p>
          <a:p>
            <a:pPr>
              <a:lnSpc>
                <a:spcPct val="100000"/>
              </a:lnSpc>
            </a:pPr>
            <a:endParaRPr lang="es-ES"/>
          </a:p>
          <a:p>
            <a:pPr>
              <a:lnSpc>
                <a:spcPct val="100000"/>
              </a:lnSpc>
            </a:pPr>
            <a:endParaRPr lang="es-ES"/>
          </a:p>
          <a:p>
            <a:pPr marL="0" indent="0">
              <a:lnSpc>
                <a:spcPct val="100000"/>
              </a:lnSpc>
              <a:buNone/>
            </a:pPr>
            <a:endParaRPr lang="en-US"/>
          </a:p>
        </p:txBody>
      </p:sp>
      <p:pic>
        <p:nvPicPr>
          <p:cNvPr id="12" name="Picture 11">
            <a:extLst>
              <a:ext uri="{FF2B5EF4-FFF2-40B4-BE49-F238E27FC236}">
                <a16:creationId xmlns:a16="http://schemas.microsoft.com/office/drawing/2014/main" id="{F35F231F-4239-9BCC-8C82-A5857E60F262}"/>
              </a:ext>
            </a:extLst>
          </p:cNvPr>
          <p:cNvPicPr>
            <a:picLocks noChangeAspect="1"/>
          </p:cNvPicPr>
          <p:nvPr/>
        </p:nvPicPr>
        <p:blipFill>
          <a:blip r:embed="rId2">
            <a:extLst>
              <a:ext uri="{28A0092B-C50C-407E-A947-70E740481C1C}">
                <a14:useLocalDpi xmlns:a14="http://schemas.microsoft.com/office/drawing/2010/main" val="0"/>
              </a:ext>
            </a:extLst>
          </a:blip>
          <a:srcRect l="19426" r="15391"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3876939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7862B3-F0BD-8258-DF76-91347AD869ED}"/>
              </a:ext>
            </a:extLst>
          </p:cNvPr>
          <p:cNvSpPr>
            <a:spLocks noGrp="1"/>
          </p:cNvSpPr>
          <p:nvPr>
            <p:ph type="title"/>
          </p:nvPr>
        </p:nvSpPr>
        <p:spPr>
          <a:xfrm>
            <a:off x="521208" y="978408"/>
            <a:ext cx="3397649" cy="3303764"/>
          </a:xfrm>
        </p:spPr>
        <p:txBody>
          <a:bodyPr vert="horz" lIns="91440" tIns="45720" rIns="91440" bIns="45720" rtlCol="0" anchor="t">
            <a:normAutofit/>
          </a:bodyPr>
          <a:lstStyle/>
          <a:p>
            <a:r>
              <a:rPr lang="en-US" dirty="0" err="1"/>
              <a:t>Arquitectura</a:t>
            </a:r>
            <a:r>
              <a:rPr lang="en-US" dirty="0"/>
              <a:t> del Sistema</a:t>
            </a:r>
          </a:p>
        </p:txBody>
      </p:sp>
      <p:sp>
        <p:nvSpPr>
          <p:cNvPr id="16" name="Freeform: Shape 15">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51C12463-1209-FA58-A98F-F5014ED5F8F2}"/>
              </a:ext>
            </a:extLst>
          </p:cNvPr>
          <p:cNvPicPr>
            <a:picLocks noGrp="1" noChangeAspect="1"/>
          </p:cNvPicPr>
          <p:nvPr>
            <p:ph idx="1"/>
          </p:nvPr>
        </p:nvPicPr>
        <p:blipFill>
          <a:blip r:embed="rId3"/>
          <a:stretch>
            <a:fillRect/>
          </a:stretch>
        </p:blipFill>
        <p:spPr>
          <a:xfrm>
            <a:off x="4119154" y="965741"/>
            <a:ext cx="7551931" cy="5210832"/>
          </a:xfrm>
          <a:prstGeom prst="rect">
            <a:avLst/>
          </a:prstGeom>
        </p:spPr>
      </p:pic>
    </p:spTree>
    <p:extLst>
      <p:ext uri="{BB962C8B-B14F-4D97-AF65-F5344CB8AC3E}">
        <p14:creationId xmlns:p14="http://schemas.microsoft.com/office/powerpoint/2010/main" val="340456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3C60-D5B3-EDE0-077D-8CD5AC0F03F3}"/>
              </a:ext>
            </a:extLst>
          </p:cNvPr>
          <p:cNvSpPr>
            <a:spLocks noGrp="1"/>
          </p:cNvSpPr>
          <p:nvPr>
            <p:ph type="title"/>
          </p:nvPr>
        </p:nvSpPr>
        <p:spPr/>
        <p:txBody>
          <a:bodyPr>
            <a:normAutofit/>
          </a:bodyPr>
          <a:lstStyle/>
          <a:p>
            <a:r>
              <a:rPr lang="es-ES" sz="4000" dirty="0"/>
              <a:t>Ingeniería de Características y "</a:t>
            </a:r>
            <a:r>
              <a:rPr lang="es-ES" sz="4000" dirty="0" err="1"/>
              <a:t>Ground</a:t>
            </a:r>
            <a:r>
              <a:rPr lang="es-ES" sz="4000" dirty="0"/>
              <a:t> </a:t>
            </a:r>
            <a:r>
              <a:rPr lang="es-ES" sz="4000" dirty="0" err="1"/>
              <a:t>Truth</a:t>
            </a:r>
            <a:r>
              <a:rPr lang="es-ES" sz="4000" dirty="0"/>
              <a:t>"</a:t>
            </a:r>
            <a:endParaRPr lang="en-US" sz="4000" dirty="0"/>
          </a:p>
        </p:txBody>
      </p:sp>
      <p:sp>
        <p:nvSpPr>
          <p:cNvPr id="4" name="Rectangle 1">
            <a:extLst>
              <a:ext uri="{FF2B5EF4-FFF2-40B4-BE49-F238E27FC236}">
                <a16:creationId xmlns:a16="http://schemas.microsoft.com/office/drawing/2014/main" id="{8E9873BA-3ABF-7FCE-6B9B-2D75636A88EE}"/>
              </a:ext>
            </a:extLst>
          </p:cNvPr>
          <p:cNvSpPr>
            <a:spLocks noGrp="1" noChangeArrowheads="1"/>
          </p:cNvSpPr>
          <p:nvPr>
            <p:ph idx="1"/>
          </p:nvPr>
        </p:nvSpPr>
        <p:spPr bwMode="auto">
          <a:xfrm>
            <a:off x="891597" y="2195227"/>
            <a:ext cx="618053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a:ln>
                  <a:noFill/>
                </a:ln>
                <a:solidFill>
                  <a:schemeClr val="tx1"/>
                </a:solidFill>
                <a:effectLst/>
                <a:latin typeface="+mn-lt"/>
              </a:rPr>
              <a:t>Vector de </a:t>
            </a:r>
            <a:r>
              <a:rPr kumimoji="0" lang="en-US" altLang="en-US" sz="1600" b="1" i="0" u="none" strike="noStrike" cap="none" normalizeH="0" baseline="0" dirty="0" err="1">
                <a:ln>
                  <a:noFill/>
                </a:ln>
                <a:solidFill>
                  <a:schemeClr val="tx1"/>
                </a:solidFill>
                <a:effectLst/>
                <a:latin typeface="+mn-lt"/>
              </a:rPr>
              <a:t>Características</a:t>
            </a:r>
            <a:r>
              <a:rPr kumimoji="0" lang="en-US" altLang="en-US" sz="1600" b="1" i="0" u="none" strike="noStrike" cap="none" normalizeH="0" baseline="0" dirty="0">
                <a:ln>
                  <a:noFill/>
                </a:ln>
                <a:solidFill>
                  <a:schemeClr val="tx1"/>
                </a:solidFill>
                <a:effectLst/>
                <a:latin typeface="+mn-lt"/>
              </a:rPr>
              <a:t>: </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 </a:t>
            </a:r>
            <a:r>
              <a:rPr kumimoji="0" lang="en-US" altLang="en-US" sz="1600" b="0" i="0" u="none" strike="noStrike" cap="none" normalizeH="0" baseline="0" dirty="0" err="1">
                <a:ln>
                  <a:noFill/>
                </a:ln>
                <a:solidFill>
                  <a:schemeClr val="tx1"/>
                </a:solidFill>
                <a:effectLst/>
                <a:latin typeface="+mn-lt"/>
              </a:rPr>
              <a:t>Volatilidad</a:t>
            </a:r>
            <a:r>
              <a:rPr kumimoji="0" lang="en-US" altLang="en-US" sz="1600" b="0" i="0" u="none" strike="noStrike" cap="none" normalizeH="0" baseline="0" dirty="0">
                <a:ln>
                  <a:noFill/>
                </a:ln>
                <a:solidFill>
                  <a:schemeClr val="tx1"/>
                </a:solidFill>
                <a:effectLst/>
                <a:latin typeface="+mn-lt"/>
              </a:rPr>
              <a:t> </a:t>
            </a:r>
            <a:r>
              <a:rPr kumimoji="0" lang="en-US" altLang="en-US" sz="1600" b="0" i="0" u="none" strike="noStrike" cap="none" normalizeH="0" baseline="0" dirty="0" err="1">
                <a:ln>
                  <a:noFill/>
                </a:ln>
                <a:solidFill>
                  <a:schemeClr val="tx1"/>
                </a:solidFill>
                <a:effectLst/>
                <a:latin typeface="+mn-lt"/>
              </a:rPr>
              <a:t>Anualizada</a:t>
            </a:r>
            <a:r>
              <a:rPr kumimoji="0" lang="en-US" altLang="en-US"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 Maximum Drawdown (MDD).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 Value at Risk (</a:t>
            </a:r>
            <a:r>
              <a:rPr kumimoji="0" lang="en-US" altLang="en-US" sz="1600" b="0" i="0" u="none" strike="noStrike" cap="none" normalizeH="0" baseline="0" dirty="0" err="1">
                <a:ln>
                  <a:noFill/>
                </a:ln>
                <a:solidFill>
                  <a:schemeClr val="tx1"/>
                </a:solidFill>
                <a:effectLst/>
                <a:latin typeface="+mn-lt"/>
              </a:rPr>
              <a:t>VaR</a:t>
            </a:r>
            <a:r>
              <a:rPr kumimoji="0" lang="en-US" altLang="en-US" sz="1600" b="0" i="0" u="none" strike="noStrike" cap="none" normalizeH="0" baseline="0" dirty="0">
                <a:ln>
                  <a:noFill/>
                </a:ln>
                <a:solidFill>
                  <a:schemeClr val="tx1"/>
                </a:solidFill>
                <a:effectLst/>
                <a:latin typeface="+mn-lt"/>
              </a:rPr>
              <a:t> 95%).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 </a:t>
            </a:r>
            <a:r>
              <a:rPr kumimoji="0" lang="en-US" altLang="en-US" sz="1600" b="0" i="0" u="none" strike="noStrike" cap="none" normalizeH="0" baseline="0" dirty="0" err="1">
                <a:ln>
                  <a:noFill/>
                </a:ln>
                <a:solidFill>
                  <a:schemeClr val="tx1"/>
                </a:solidFill>
                <a:effectLst/>
                <a:latin typeface="+mn-lt"/>
              </a:rPr>
              <a:t>Curtosis</a:t>
            </a:r>
            <a:r>
              <a:rPr kumimoji="0" lang="en-US" altLang="en-US"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 Ratio de Sharpe (</a:t>
            </a:r>
            <a:r>
              <a:rPr kumimoji="0" lang="en-US" altLang="en-US" sz="1600" b="0" i="0" u="none" strike="noStrike" cap="none" normalizeH="0" baseline="0" dirty="0" err="1">
                <a:ln>
                  <a:noFill/>
                </a:ln>
                <a:solidFill>
                  <a:schemeClr val="tx1"/>
                </a:solidFill>
                <a:effectLst/>
                <a:latin typeface="+mn-lt"/>
              </a:rPr>
              <a:t>invertido</a:t>
            </a:r>
            <a:r>
              <a:rPr kumimoji="0" lang="en-US" altLang="en-US"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a:t>
            </a:r>
            <a:r>
              <a:rPr kumimoji="0" lang="en-US" altLang="en-US" sz="1600" b="1" i="0" u="none" strike="noStrike" cap="none" normalizeH="0" baseline="0" dirty="0" err="1">
                <a:ln>
                  <a:noFill/>
                </a:ln>
                <a:solidFill>
                  <a:schemeClr val="tx1"/>
                </a:solidFill>
                <a:effectLst/>
                <a:latin typeface="+mn-lt"/>
              </a:rPr>
              <a:t>Construcción</a:t>
            </a:r>
            <a:r>
              <a:rPr kumimoji="0" lang="en-US" altLang="en-US" sz="1600" b="1" i="0" u="none" strike="noStrike" cap="none" normalizeH="0" baseline="0" dirty="0">
                <a:ln>
                  <a:noFill/>
                </a:ln>
                <a:solidFill>
                  <a:schemeClr val="tx1"/>
                </a:solidFill>
                <a:effectLst/>
                <a:latin typeface="+mn-lt"/>
              </a:rPr>
              <a:t> del Ground Truth:</a:t>
            </a: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rPr>
              <a:t>    ◦ </a:t>
            </a:r>
            <a:r>
              <a:rPr kumimoji="0" lang="en-US" altLang="en-US" sz="1600" i="0" u="none" strike="noStrike" cap="none" normalizeH="0" baseline="0" dirty="0">
                <a:ln>
                  <a:noFill/>
                </a:ln>
                <a:solidFill>
                  <a:schemeClr val="tx1"/>
                </a:solidFill>
                <a:effectLst/>
                <a:latin typeface="+mn-lt"/>
              </a:rPr>
              <a:t>Se </a:t>
            </a:r>
            <a:r>
              <a:rPr kumimoji="0" lang="en-US" altLang="en-US" sz="1600" i="0" u="none" strike="noStrike" cap="none" normalizeH="0" baseline="0" dirty="0" err="1">
                <a:ln>
                  <a:noFill/>
                </a:ln>
                <a:solidFill>
                  <a:schemeClr val="tx1"/>
                </a:solidFill>
                <a:effectLst/>
                <a:latin typeface="+mn-lt"/>
              </a:rPr>
              <a:t>creó</a:t>
            </a:r>
            <a:r>
              <a:rPr kumimoji="0" lang="en-US" altLang="en-US" sz="1600" i="0" u="none" strike="noStrike" cap="none" normalizeH="0" baseline="0" dirty="0">
                <a:ln>
                  <a:noFill/>
                </a:ln>
                <a:solidFill>
                  <a:schemeClr val="tx1"/>
                </a:solidFill>
                <a:effectLst/>
                <a:latin typeface="+mn-lt"/>
              </a:rPr>
              <a:t> un Score de Riesgo </a:t>
            </a:r>
            <a:r>
              <a:rPr kumimoji="0" lang="en-US" altLang="en-US" sz="1600" i="0" u="none" strike="noStrike" cap="none" normalizeH="0" baseline="0" dirty="0" err="1">
                <a:ln>
                  <a:noFill/>
                </a:ln>
                <a:solidFill>
                  <a:schemeClr val="tx1"/>
                </a:solidFill>
                <a:effectLst/>
                <a:latin typeface="+mn-lt"/>
              </a:rPr>
              <a:t>Compuesto</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combinación</a:t>
            </a:r>
            <a:r>
              <a:rPr kumimoji="0" lang="en-US" altLang="en-US" sz="1600" i="0" u="none" strike="noStrike" cap="none" normalizeH="0" baseline="0" dirty="0">
                <a:ln>
                  <a:noFill/>
                </a:ln>
                <a:solidFill>
                  <a:schemeClr val="tx1"/>
                </a:solidFill>
                <a:effectLst/>
                <a:latin typeface="+mn-lt"/>
              </a:rPr>
              <a:t> lineal </a:t>
            </a:r>
            <a:r>
              <a:rPr kumimoji="0" lang="en-US" altLang="en-US" sz="1600" i="0" u="none" strike="noStrike" cap="none" normalizeH="0" baseline="0" dirty="0" err="1">
                <a:ln>
                  <a:noFill/>
                </a:ln>
                <a:solidFill>
                  <a:schemeClr val="tx1"/>
                </a:solidFill>
                <a:effectLst/>
                <a:latin typeface="+mn-lt"/>
              </a:rPr>
              <a:t>ponderada</a:t>
            </a:r>
            <a:r>
              <a:rPr kumimoji="0" lang="en-US" altLang="en-US" sz="1600" i="0" u="none" strike="noStrike" cap="none" normalizeH="0" baseline="0" dirty="0">
                <a:ln>
                  <a:noFill/>
                </a:ln>
                <a:solidFill>
                  <a:schemeClr val="tx1"/>
                </a:solidFill>
                <a:effectLst/>
                <a:latin typeface="+mn-lt"/>
              </a:rPr>
              <a:t> de las </a:t>
            </a:r>
            <a:r>
              <a:rPr kumimoji="0" lang="en-US" altLang="en-US" sz="1600" i="0" u="none" strike="noStrike" cap="none" normalizeH="0" baseline="0" dirty="0" err="1">
                <a:ln>
                  <a:noFill/>
                </a:ln>
                <a:solidFill>
                  <a:schemeClr val="tx1"/>
                </a:solidFill>
                <a:effectLst/>
                <a:latin typeface="+mn-lt"/>
              </a:rPr>
              <a:t>métricas</a:t>
            </a:r>
            <a:r>
              <a:rPr kumimoji="0" lang="en-US" altLang="en-US" sz="160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n-lt"/>
              </a:rPr>
              <a:t>    ◦ </a:t>
            </a:r>
            <a:r>
              <a:rPr kumimoji="0" lang="en-US" altLang="en-US" sz="1600" i="0" u="none" strike="noStrike" cap="none" normalizeH="0" baseline="0" dirty="0" err="1">
                <a:ln>
                  <a:noFill/>
                </a:ln>
                <a:solidFill>
                  <a:schemeClr val="tx1"/>
                </a:solidFill>
                <a:effectLst/>
                <a:latin typeface="+mn-lt"/>
              </a:rPr>
              <a:t>Discretización</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en</a:t>
            </a:r>
            <a:r>
              <a:rPr kumimoji="0" lang="en-US" altLang="en-US" sz="1600" i="0" u="none" strike="noStrike" cap="none" normalizeH="0" baseline="0" dirty="0">
                <a:ln>
                  <a:noFill/>
                </a:ln>
                <a:solidFill>
                  <a:schemeClr val="tx1"/>
                </a:solidFill>
                <a:effectLst/>
                <a:latin typeface="+mn-lt"/>
              </a:rPr>
              <a:t> 4 </a:t>
            </a:r>
            <a:r>
              <a:rPr kumimoji="0" lang="en-US" altLang="en-US" sz="1600" i="0" u="none" strike="noStrike" cap="none" normalizeH="0" baseline="0" dirty="0" err="1">
                <a:ln>
                  <a:noFill/>
                </a:ln>
                <a:solidFill>
                  <a:schemeClr val="tx1"/>
                </a:solidFill>
                <a:effectLst/>
                <a:latin typeface="+mn-lt"/>
              </a:rPr>
              <a:t>categorías</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mediante</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cuartiles</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Conservador</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Moderado</a:t>
            </a:r>
            <a:r>
              <a:rPr kumimoji="0" lang="en-US" altLang="en-US" sz="1600" i="0" u="none" strike="noStrike" cap="none" normalizeH="0" baseline="0" dirty="0">
                <a:ln>
                  <a:noFill/>
                </a:ln>
                <a:solidFill>
                  <a:schemeClr val="tx1"/>
                </a:solidFill>
                <a:effectLst/>
                <a:latin typeface="+mn-lt"/>
              </a:rPr>
              <a:t>, </a:t>
            </a:r>
            <a:r>
              <a:rPr kumimoji="0" lang="en-US" altLang="en-US" sz="1600" i="0" u="none" strike="noStrike" cap="none" normalizeH="0" baseline="0" dirty="0" err="1">
                <a:ln>
                  <a:noFill/>
                </a:ln>
                <a:solidFill>
                  <a:schemeClr val="tx1"/>
                </a:solidFill>
                <a:effectLst/>
                <a:latin typeface="+mn-lt"/>
              </a:rPr>
              <a:t>Arriesgado</a:t>
            </a:r>
            <a:r>
              <a:rPr kumimoji="0" lang="en-US" altLang="en-US" sz="1600" i="0" u="none" strike="noStrike" cap="none" normalizeH="0" baseline="0" dirty="0">
                <a:ln>
                  <a:noFill/>
                </a:ln>
                <a:solidFill>
                  <a:schemeClr val="tx1"/>
                </a:solidFill>
                <a:effectLst/>
                <a:latin typeface="+mn-lt"/>
              </a:rPr>
              <a:t>, Muy </a:t>
            </a:r>
            <a:r>
              <a:rPr kumimoji="0" lang="en-US" altLang="en-US" sz="1600" i="0" u="none" strike="noStrike" cap="none" normalizeH="0" baseline="0" dirty="0" err="1">
                <a:ln>
                  <a:noFill/>
                </a:ln>
                <a:solidFill>
                  <a:schemeClr val="tx1"/>
                </a:solidFill>
                <a:effectLst/>
                <a:latin typeface="+mn-lt"/>
              </a:rPr>
              <a:t>Arriesgado</a:t>
            </a:r>
            <a:endParaRPr kumimoji="0" lang="en-US" altLang="en-US" sz="1600" i="0" u="none" strike="noStrike" cap="none" normalizeH="0" baseline="0" dirty="0">
              <a:ln>
                <a:noFill/>
              </a:ln>
              <a:solidFill>
                <a:schemeClr val="tx1"/>
              </a:solidFill>
              <a:effectLst/>
              <a:latin typeface="+mn-lt"/>
            </a:endParaRPr>
          </a:p>
        </p:txBody>
      </p:sp>
      <p:pic>
        <p:nvPicPr>
          <p:cNvPr id="6" name="Picture 5">
            <a:extLst>
              <a:ext uri="{FF2B5EF4-FFF2-40B4-BE49-F238E27FC236}">
                <a16:creationId xmlns:a16="http://schemas.microsoft.com/office/drawing/2014/main" id="{56F75EF6-EBEA-015C-0809-BDCF0CC569CA}"/>
              </a:ext>
            </a:extLst>
          </p:cNvPr>
          <p:cNvPicPr>
            <a:picLocks noChangeAspect="1"/>
          </p:cNvPicPr>
          <p:nvPr/>
        </p:nvPicPr>
        <p:blipFill>
          <a:blip r:embed="rId3"/>
          <a:srcRect r="11570" b="-1226"/>
          <a:stretch>
            <a:fillRect/>
          </a:stretch>
        </p:blipFill>
        <p:spPr>
          <a:xfrm>
            <a:off x="3640989" y="2530095"/>
            <a:ext cx="791867" cy="250722"/>
          </a:xfrm>
          <a:prstGeom prst="rect">
            <a:avLst/>
          </a:prstGeom>
        </p:spPr>
      </p:pic>
      <p:pic>
        <p:nvPicPr>
          <p:cNvPr id="2050" name="Picture 2" descr="Ingeniería de características — Aprendizaje automático — DATA SCIENCE">
            <a:extLst>
              <a:ext uri="{FF2B5EF4-FFF2-40B4-BE49-F238E27FC236}">
                <a16:creationId xmlns:a16="http://schemas.microsoft.com/office/drawing/2014/main" id="{C787892B-D8E6-9F92-1D90-0779177C8E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2521" y="2264387"/>
            <a:ext cx="4032964" cy="2977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169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EC60D0-0C44-2D27-4773-0D9554697134}"/>
              </a:ext>
            </a:extLst>
          </p:cNvPr>
          <p:cNvSpPr>
            <a:spLocks noGrp="1"/>
          </p:cNvSpPr>
          <p:nvPr>
            <p:ph type="title"/>
          </p:nvPr>
        </p:nvSpPr>
        <p:spPr>
          <a:xfrm>
            <a:off x="521208" y="978408"/>
            <a:ext cx="11155680" cy="1115568"/>
          </a:xfrm>
        </p:spPr>
        <p:txBody>
          <a:bodyPr>
            <a:normAutofit/>
          </a:bodyPr>
          <a:lstStyle/>
          <a:p>
            <a:r>
              <a:rPr lang="en-US" dirty="0" err="1"/>
              <a:t>Algoritmos</a:t>
            </a:r>
            <a:r>
              <a:rPr lang="en-US" dirty="0"/>
              <a:t> de Clustering</a:t>
            </a:r>
          </a:p>
        </p:txBody>
      </p:sp>
      <p:sp>
        <p:nvSpPr>
          <p:cNvPr id="13" name="Freeform: Shape 12">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3CBBAA4C-AC89-336F-30CE-6C0585712684}"/>
              </a:ext>
            </a:extLst>
          </p:cNvPr>
          <p:cNvPicPr>
            <a:picLocks noChangeAspect="1"/>
          </p:cNvPicPr>
          <p:nvPr/>
        </p:nvPicPr>
        <p:blipFill>
          <a:blip r:embed="rId3"/>
          <a:stretch>
            <a:fillRect/>
          </a:stretch>
        </p:blipFill>
        <p:spPr>
          <a:xfrm>
            <a:off x="518836" y="2299390"/>
            <a:ext cx="5637155" cy="4072844"/>
          </a:xfrm>
          <a:prstGeom prst="rect">
            <a:avLst/>
          </a:prstGeom>
        </p:spPr>
      </p:pic>
      <p:sp>
        <p:nvSpPr>
          <p:cNvPr id="4" name="Rectangle 1">
            <a:extLst>
              <a:ext uri="{FF2B5EF4-FFF2-40B4-BE49-F238E27FC236}">
                <a16:creationId xmlns:a16="http://schemas.microsoft.com/office/drawing/2014/main" id="{A2928258-5601-2A11-64CB-5AFADA5DD017}"/>
              </a:ext>
            </a:extLst>
          </p:cNvPr>
          <p:cNvSpPr>
            <a:spLocks noGrp="1" noChangeArrowheads="1"/>
          </p:cNvSpPr>
          <p:nvPr>
            <p:ph idx="1"/>
          </p:nvPr>
        </p:nvSpPr>
        <p:spPr bwMode="auto">
          <a:xfrm>
            <a:off x="6547104" y="2304288"/>
            <a:ext cx="5129784"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 </a:t>
            </a:r>
            <a:r>
              <a:rPr kumimoji="0" lang="en-US" altLang="en-US" sz="1700" b="1" i="0" u="none" strike="noStrike" cap="none" normalizeH="0" baseline="0" dirty="0">
                <a:ln>
                  <a:noFill/>
                </a:ln>
                <a:effectLst/>
                <a:latin typeface="Arial" panose="020B0604020202020204" pitchFamily="34" charset="0"/>
              </a:rPr>
              <a:t>Redes </a:t>
            </a:r>
            <a:r>
              <a:rPr kumimoji="0" lang="en-US" altLang="en-US" sz="1700" b="1" i="0" u="none" strike="noStrike" cap="none" normalizeH="0" baseline="0" dirty="0" err="1">
                <a:ln>
                  <a:noFill/>
                </a:ln>
                <a:effectLst/>
                <a:latin typeface="Arial" panose="020B0604020202020204" pitchFamily="34" charset="0"/>
              </a:rPr>
              <a:t>Neuronales</a:t>
            </a:r>
            <a:r>
              <a:rPr kumimoji="0" lang="en-US" altLang="en-US" sz="1700" b="1" i="0" u="none" strike="noStrike" cap="none" normalizeH="0" baseline="0" dirty="0">
                <a:ln>
                  <a:noFill/>
                </a:ln>
                <a:effectLst/>
                <a:latin typeface="Arial" panose="020B0604020202020204" pitchFamily="34" charset="0"/>
              </a:rPr>
              <a:t>:</a:t>
            </a:r>
            <a:endParaRPr kumimoji="0" lang="en-US" altLang="en-US" sz="17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a:ln>
                  <a:noFill/>
                </a:ln>
                <a:effectLst/>
                <a:latin typeface="Arial" panose="020B0604020202020204" pitchFamily="34" charset="0"/>
              </a:rPr>
              <a:t>    Red </a:t>
            </a:r>
            <a:r>
              <a:rPr kumimoji="0" lang="en-US" altLang="en-US" sz="1700" i="0" u="none" strike="noStrike" cap="none" normalizeH="0" baseline="0" dirty="0" err="1">
                <a:ln>
                  <a:noFill/>
                </a:ln>
                <a:effectLst/>
                <a:latin typeface="Arial" panose="020B0604020202020204" pitchFamily="34" charset="0"/>
              </a:rPr>
              <a:t>Competitiva</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Aprendizaje</a:t>
            </a:r>
            <a:r>
              <a:rPr kumimoji="0" lang="en-US" altLang="en-US" sz="1700" i="0" u="none" strike="noStrike" cap="none" normalizeH="0" baseline="0" dirty="0">
                <a:ln>
                  <a:noFill/>
                </a:ln>
                <a:effectLst/>
                <a:latin typeface="Arial" panose="020B0604020202020204" pitchFamily="34" charset="0"/>
              </a:rPr>
              <a:t> </a:t>
            </a:r>
            <a:r>
              <a:rPr kumimoji="0" lang="en-US" altLang="en-US" sz="1700" i="1" u="none" strike="noStrike" cap="none" normalizeH="0" baseline="0" dirty="0">
                <a:ln>
                  <a:noFill/>
                </a:ln>
                <a:effectLst/>
                <a:latin typeface="Arial" panose="020B0604020202020204" pitchFamily="34" charset="0"/>
              </a:rPr>
              <a:t>Winner Take All</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regla</a:t>
            </a:r>
            <a:r>
              <a:rPr kumimoji="0" lang="en-US" altLang="en-US" sz="1700" i="0" u="none" strike="noStrike" cap="none" normalizeH="0" baseline="0" dirty="0">
                <a:ln>
                  <a:noFill/>
                </a:ln>
                <a:effectLst/>
                <a:latin typeface="Arial" panose="020B0604020202020204" pitchFamily="34" charset="0"/>
              </a:rPr>
              <a:t> de Kohonen).</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i="0" u="none" strike="noStrike" cap="none" normalizeH="0" baseline="0" dirty="0">
                <a:ln>
                  <a:noFill/>
                </a:ln>
                <a:effectLst/>
                <a:latin typeface="Arial" panose="020B0604020202020204" pitchFamily="34" charset="0"/>
              </a:rPr>
              <a:t>     Mapas Auto-</a:t>
            </a:r>
            <a:r>
              <a:rPr kumimoji="0" lang="en-US" altLang="en-US" sz="1700" i="0" u="none" strike="noStrike" cap="none" normalizeH="0" baseline="0" dirty="0" err="1">
                <a:ln>
                  <a:noFill/>
                </a:ln>
                <a:effectLst/>
                <a:latin typeface="Arial" panose="020B0604020202020204" pitchFamily="34" charset="0"/>
              </a:rPr>
              <a:t>Organizados</a:t>
            </a:r>
            <a:r>
              <a:rPr kumimoji="0" lang="en-US" altLang="en-US" sz="1700" i="0" u="none" strike="noStrike" cap="none" normalizeH="0" baseline="0" dirty="0">
                <a:ln>
                  <a:noFill/>
                </a:ln>
                <a:effectLst/>
                <a:latin typeface="Arial" panose="020B0604020202020204" pitchFamily="34" charset="0"/>
              </a:rPr>
              <a:t> (SOM): </a:t>
            </a:r>
            <a:r>
              <a:rPr kumimoji="0" lang="en-US" altLang="en-US" sz="1700" i="0" u="none" strike="noStrike" cap="none" normalizeH="0" baseline="0" dirty="0" err="1">
                <a:ln>
                  <a:noFill/>
                </a:ln>
                <a:effectLst/>
                <a:latin typeface="Arial" panose="020B0604020202020204" pitchFamily="34" charset="0"/>
              </a:rPr>
              <a:t>Topología</a:t>
            </a:r>
            <a:r>
              <a:rPr kumimoji="0" lang="en-US" altLang="en-US" sz="1700" i="0" u="none" strike="noStrike" cap="none" normalizeH="0" baseline="0" dirty="0">
                <a:ln>
                  <a:noFill/>
                </a:ln>
                <a:effectLst/>
                <a:latin typeface="Arial" panose="020B0604020202020204" pitchFamily="34" charset="0"/>
              </a:rPr>
              <a:t> 2x2 para </a:t>
            </a:r>
            <a:r>
              <a:rPr kumimoji="0" lang="en-US" altLang="en-US" sz="1700" i="0" u="none" strike="noStrike" cap="none" normalizeH="0" baseline="0" dirty="0" err="1">
                <a:ln>
                  <a:noFill/>
                </a:ln>
                <a:effectLst/>
                <a:latin typeface="Arial" panose="020B0604020202020204" pitchFamily="34" charset="0"/>
              </a:rPr>
              <a:t>preservar</a:t>
            </a:r>
            <a:r>
              <a:rPr kumimoji="0" lang="en-US" altLang="en-US" sz="1700" i="0" u="none" strike="noStrike" cap="none" normalizeH="0" baseline="0" dirty="0">
                <a:ln>
                  <a:noFill/>
                </a:ln>
                <a:effectLst/>
                <a:latin typeface="Arial" panose="020B0604020202020204" pitchFamily="34" charset="0"/>
              </a:rPr>
              <a:t> vecindad.</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70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 </a:t>
            </a:r>
            <a:r>
              <a:rPr kumimoji="0" lang="en-US" altLang="en-US" sz="1700" b="1" i="0" u="none" strike="noStrike" cap="none" normalizeH="0" baseline="0" dirty="0" err="1">
                <a:ln>
                  <a:noFill/>
                </a:ln>
                <a:effectLst/>
                <a:latin typeface="Arial" panose="020B0604020202020204" pitchFamily="34" charset="0"/>
              </a:rPr>
              <a:t>Modelos</a:t>
            </a:r>
            <a:r>
              <a:rPr kumimoji="0" lang="en-US" altLang="en-US" sz="1700" b="1" i="0" u="none" strike="noStrike" cap="none" normalizeH="0" baseline="0" dirty="0">
                <a:ln>
                  <a:noFill/>
                </a:ln>
                <a:effectLst/>
                <a:latin typeface="Arial" panose="020B0604020202020204" pitchFamily="34" charset="0"/>
              </a:rPr>
              <a:t> </a:t>
            </a:r>
            <a:r>
              <a:rPr kumimoji="0" lang="en-US" altLang="en-US" sz="1700" b="1" i="0" u="none" strike="noStrike" cap="none" normalizeH="0" baseline="0" dirty="0" err="1">
                <a:ln>
                  <a:noFill/>
                </a:ln>
                <a:effectLst/>
                <a:latin typeface="Arial" panose="020B0604020202020204" pitchFamily="34" charset="0"/>
              </a:rPr>
              <a:t>Estadísticos</a:t>
            </a:r>
            <a:r>
              <a:rPr kumimoji="0" lang="en-US" altLang="en-US" sz="1700" b="1" i="0" u="none" strike="noStrike" cap="none" normalizeH="0" baseline="0" dirty="0">
                <a:ln>
                  <a:noFill/>
                </a:ln>
                <a:effectLst/>
                <a:latin typeface="Arial" panose="020B0604020202020204" pitchFamily="34" charset="0"/>
              </a:rPr>
              <a:t> y </a:t>
            </a:r>
            <a:r>
              <a:rPr kumimoji="0" lang="en-US" altLang="en-US" sz="1700" b="1" i="0" u="none" strike="noStrike" cap="none" normalizeH="0" baseline="0" dirty="0" err="1">
                <a:ln>
                  <a:noFill/>
                </a:ln>
                <a:effectLst/>
                <a:latin typeface="Arial" panose="020B0604020202020204" pitchFamily="34" charset="0"/>
              </a:rPr>
              <a:t>Probabilísticos</a:t>
            </a:r>
            <a:r>
              <a:rPr kumimoji="0" lang="en-US" altLang="en-US" sz="1700" b="1" i="0" u="none" strike="noStrike" cap="none" normalizeH="0" baseline="0" dirty="0">
                <a:ln>
                  <a:noFill/>
                </a:ln>
                <a:effectLst/>
                <a:latin typeface="Arial" panose="020B0604020202020204" pitchFamily="34" charset="0"/>
              </a:rPr>
              <a:t>:</a:t>
            </a:r>
            <a:endParaRPr kumimoji="0" lang="en-US" altLang="en-US" sz="17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a:ln>
                  <a:noFill/>
                </a:ln>
                <a:effectLst/>
                <a:latin typeface="Arial" panose="020B0604020202020204" pitchFamily="34" charset="0"/>
              </a:rPr>
              <a:t>  K-Means: </a:t>
            </a:r>
            <a:r>
              <a:rPr kumimoji="0" lang="en-US" altLang="en-US" sz="1700" i="0" u="none" strike="noStrike" cap="none" normalizeH="0" baseline="0" dirty="0" err="1">
                <a:ln>
                  <a:noFill/>
                </a:ln>
                <a:effectLst/>
                <a:latin typeface="Arial" panose="020B0604020202020204" pitchFamily="34" charset="0"/>
              </a:rPr>
              <a:t>Minimización</a:t>
            </a:r>
            <a:r>
              <a:rPr kumimoji="0" lang="en-US" altLang="en-US" sz="1700" i="0" u="none" strike="noStrike" cap="none" normalizeH="0" baseline="0" dirty="0">
                <a:ln>
                  <a:noFill/>
                </a:ln>
                <a:effectLst/>
                <a:latin typeface="Arial" panose="020B0604020202020204" pitchFamily="34" charset="0"/>
              </a:rPr>
              <a:t> de </a:t>
            </a:r>
            <a:r>
              <a:rPr kumimoji="0" lang="en-US" altLang="en-US" sz="1700" i="0" u="none" strike="noStrike" cap="none" normalizeH="0" baseline="0" dirty="0" err="1">
                <a:ln>
                  <a:noFill/>
                </a:ln>
                <a:effectLst/>
                <a:latin typeface="Arial" panose="020B0604020202020204" pitchFamily="34" charset="0"/>
              </a:rPr>
              <a:t>distancias</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euclidianas</a:t>
            </a:r>
            <a:r>
              <a:rPr kumimoji="0" lang="en-US" altLang="en-US" sz="1700" i="0" u="none" strike="noStrike" cap="none" normalizeH="0" baseline="0" dirty="0">
                <a:ln>
                  <a:noFill/>
                </a:ln>
                <a:effectLst/>
                <a:latin typeface="Arial" panose="020B0604020202020204" pitchFamily="34" charset="0"/>
              </a:rPr>
              <a:t> a </a:t>
            </a:r>
            <a:r>
              <a:rPr kumimoji="0" lang="en-US" altLang="en-US" sz="1700" i="0" u="none" strike="noStrike" cap="none" normalizeH="0" baseline="0" dirty="0" err="1">
                <a:ln>
                  <a:noFill/>
                </a:ln>
                <a:effectLst/>
                <a:latin typeface="Arial" panose="020B0604020202020204" pitchFamily="34" charset="0"/>
              </a:rPr>
              <a:t>centroides</a:t>
            </a:r>
            <a:r>
              <a:rPr kumimoji="0" lang="en-US" altLang="en-US" sz="170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i="0" u="none" strike="noStrike" cap="none" normalizeH="0" baseline="0">
                <a:ln>
                  <a:noFill/>
                </a:ln>
                <a:effectLst/>
                <a:latin typeface="Arial" panose="020B0604020202020204" pitchFamily="34" charset="0"/>
              </a:rPr>
              <a:t>     GMM (Gaussian Mixture Models): </a:t>
            </a:r>
            <a:r>
              <a:rPr kumimoji="0" lang="en-US" altLang="en-US" sz="1700" i="0" u="none" strike="noStrike" cap="none" normalizeH="0" baseline="0" err="1">
                <a:ln>
                  <a:noFill/>
                </a:ln>
                <a:effectLst/>
                <a:latin typeface="Arial" panose="020B0604020202020204" pitchFamily="34" charset="0"/>
              </a:rPr>
              <a:t>Modelado</a:t>
            </a:r>
            <a:r>
              <a:rPr kumimoji="0" lang="en-US" altLang="en-US" sz="1700" i="0" u="none" strike="noStrike" cap="none" normalizeH="0" baseline="0" dirty="0">
                <a:ln>
                  <a:noFill/>
                </a:ln>
                <a:effectLst/>
                <a:latin typeface="Arial" panose="020B0604020202020204" pitchFamily="34" charset="0"/>
              </a:rPr>
              <a:t> de </a:t>
            </a:r>
            <a:r>
              <a:rPr kumimoji="0" lang="en-US" altLang="en-US" sz="1700" i="0" u="none" strike="noStrike" cap="none" normalizeH="0" baseline="0" dirty="0" err="1">
                <a:ln>
                  <a:noFill/>
                </a:ln>
                <a:effectLst/>
                <a:latin typeface="Arial" panose="020B0604020202020204" pitchFamily="34" charset="0"/>
              </a:rPr>
              <a:t>densidad</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probabilística</a:t>
            </a:r>
            <a:r>
              <a:rPr kumimoji="0" lang="en-US" altLang="en-US" sz="1700" i="0" u="none" strike="noStrike" cap="none" normalizeH="0" baseline="0" dirty="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700" i="0" u="none" strike="noStrike" cap="none" normalizeH="0" baseline="0" dirty="0">
                <a:ln>
                  <a:noFill/>
                </a:ln>
                <a:effectLst/>
                <a:latin typeface="Arial" panose="020B0604020202020204" pitchFamily="34" charset="0"/>
              </a:rPr>
              <a:t>     Fuzzy C-Means: </a:t>
            </a:r>
            <a:r>
              <a:rPr kumimoji="0" lang="en-US" altLang="en-US" sz="1700" i="0" u="none" strike="noStrike" cap="none" normalizeH="0" baseline="0" dirty="0" err="1">
                <a:ln>
                  <a:noFill/>
                </a:ln>
                <a:effectLst/>
                <a:latin typeface="Arial" panose="020B0604020202020204" pitchFamily="34" charset="0"/>
              </a:rPr>
              <a:t>Asignación</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difusa</a:t>
            </a:r>
            <a:r>
              <a:rPr kumimoji="0" lang="en-US" altLang="en-US" sz="1700" i="0" u="none" strike="noStrike" cap="none" normalizeH="0" baseline="0" dirty="0">
                <a:ln>
                  <a:noFill/>
                </a:ln>
                <a:effectLst/>
                <a:latin typeface="Arial" panose="020B0604020202020204" pitchFamily="34" charset="0"/>
              </a:rPr>
              <a:t> (un </a:t>
            </a:r>
            <a:r>
              <a:rPr kumimoji="0" lang="en-US" altLang="en-US" sz="1700" i="0" u="none" strike="noStrike" cap="none" normalizeH="0" baseline="0" dirty="0" err="1">
                <a:ln>
                  <a:noFill/>
                </a:ln>
                <a:effectLst/>
                <a:latin typeface="Arial" panose="020B0604020202020204" pitchFamily="34" charset="0"/>
              </a:rPr>
              <a:t>activo</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puede</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pertenecer</a:t>
            </a:r>
            <a:r>
              <a:rPr kumimoji="0" lang="en-US" altLang="en-US" sz="1700" i="0" u="none" strike="noStrike" cap="none" normalizeH="0" baseline="0" dirty="0">
                <a:ln>
                  <a:noFill/>
                </a:ln>
                <a:effectLst/>
                <a:latin typeface="Arial" panose="020B0604020202020204" pitchFamily="34" charset="0"/>
              </a:rPr>
              <a:t> </a:t>
            </a:r>
            <a:r>
              <a:rPr kumimoji="0" lang="en-US" altLang="en-US" sz="1700" i="0" u="none" strike="noStrike" cap="none" normalizeH="0" baseline="0" dirty="0" err="1">
                <a:ln>
                  <a:noFill/>
                </a:ln>
                <a:effectLst/>
                <a:latin typeface="Arial" panose="020B0604020202020204" pitchFamily="34" charset="0"/>
              </a:rPr>
              <a:t>parcialmente</a:t>
            </a:r>
            <a:r>
              <a:rPr kumimoji="0" lang="en-US" altLang="en-US" sz="1700" i="0" u="none" strike="noStrike" cap="none" normalizeH="0" baseline="0" dirty="0">
                <a:ln>
                  <a:noFill/>
                </a:ln>
                <a:effectLst/>
                <a:latin typeface="Arial" panose="020B0604020202020204" pitchFamily="34" charset="0"/>
              </a:rPr>
              <a:t> a </a:t>
            </a:r>
            <a:r>
              <a:rPr kumimoji="0" lang="en-US" altLang="en-US" sz="1700" i="0" u="none" strike="noStrike" cap="none" normalizeH="0" baseline="0" dirty="0" err="1">
                <a:ln>
                  <a:noFill/>
                </a:ln>
                <a:effectLst/>
                <a:latin typeface="Arial" panose="020B0604020202020204" pitchFamily="34" charset="0"/>
              </a:rPr>
              <a:t>varios</a:t>
            </a:r>
            <a:r>
              <a:rPr kumimoji="0" lang="en-US" altLang="en-US" sz="1700" i="0" u="none" strike="noStrike" cap="none" normalizeH="0" baseline="0" dirty="0">
                <a:ln>
                  <a:noFill/>
                </a:ln>
                <a:effectLst/>
                <a:latin typeface="Arial" panose="020B0604020202020204" pitchFamily="34" charset="0"/>
              </a:rPr>
              <a:t> clusters)</a:t>
            </a:r>
          </a:p>
        </p:txBody>
      </p:sp>
    </p:spTree>
    <p:extLst>
      <p:ext uri="{BB962C8B-B14F-4D97-AF65-F5344CB8AC3E}">
        <p14:creationId xmlns:p14="http://schemas.microsoft.com/office/powerpoint/2010/main" val="80866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2" name="Rectangle 513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E54B44-DC98-5635-C23D-58957A6B7AC0}"/>
              </a:ext>
            </a:extLst>
          </p:cNvPr>
          <p:cNvSpPr>
            <a:spLocks noGrp="1"/>
          </p:cNvSpPr>
          <p:nvPr>
            <p:ph type="title"/>
          </p:nvPr>
        </p:nvSpPr>
        <p:spPr>
          <a:xfrm>
            <a:off x="6153912" y="978408"/>
            <a:ext cx="5513832" cy="1463040"/>
          </a:xfrm>
        </p:spPr>
        <p:txBody>
          <a:bodyPr>
            <a:normAutofit/>
          </a:bodyPr>
          <a:lstStyle/>
          <a:p>
            <a:pPr>
              <a:lnSpc>
                <a:spcPct val="90000"/>
              </a:lnSpc>
            </a:pPr>
            <a:r>
              <a:rPr lang="es-ES" sz="3100"/>
              <a:t>Optimización Metaheurística (El "Cerebro" del Sistema)</a:t>
            </a:r>
            <a:endParaRPr lang="en-US" sz="3100"/>
          </a:p>
        </p:txBody>
      </p:sp>
      <p:pic>
        <p:nvPicPr>
          <p:cNvPr id="5123" name="Picture 3" descr="Metaheurísticas: Búsqueda y Optimización">
            <a:extLst>
              <a:ext uri="{FF2B5EF4-FFF2-40B4-BE49-F238E27FC236}">
                <a16:creationId xmlns:a16="http://schemas.microsoft.com/office/drawing/2014/main" id="{F3667682-479F-D270-7470-501950D8D4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38" b="5073"/>
          <a:stretch>
            <a:fillRect/>
          </a:stretch>
        </p:blipFill>
        <p:spPr bwMode="auto">
          <a:xfrm>
            <a:off x="693336" y="1951502"/>
            <a:ext cx="4784354" cy="2801368"/>
          </a:xfrm>
          <a:prstGeom prst="rect">
            <a:avLst/>
          </a:prstGeom>
          <a:noFill/>
          <a:extLst>
            <a:ext uri="{909E8E84-426E-40DD-AFC4-6F175D3DCCD1}">
              <a14:hiddenFill xmlns:a14="http://schemas.microsoft.com/office/drawing/2010/main">
                <a:solidFill>
                  <a:srgbClr val="FFFFFF"/>
                </a:solidFill>
              </a14:hiddenFill>
            </a:ext>
          </a:extLst>
        </p:spPr>
      </p:pic>
      <p:sp>
        <p:nvSpPr>
          <p:cNvPr id="5133" name="Freeform: Shape 5132">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1">
            <a:extLst>
              <a:ext uri="{FF2B5EF4-FFF2-40B4-BE49-F238E27FC236}">
                <a16:creationId xmlns:a16="http://schemas.microsoft.com/office/drawing/2014/main" id="{557499B6-4399-3079-6D64-560A51F96668}"/>
              </a:ext>
            </a:extLst>
          </p:cNvPr>
          <p:cNvSpPr>
            <a:spLocks noGrp="1" noChangeArrowheads="1"/>
          </p:cNvSpPr>
          <p:nvPr>
            <p:ph idx="1"/>
          </p:nvPr>
        </p:nvSpPr>
        <p:spPr bwMode="auto">
          <a:xfrm>
            <a:off x="6153912" y="2578608"/>
            <a:ext cx="5513832" cy="37673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1" i="0" u="none" strike="noStrike" cap="none" normalizeH="0" baseline="0">
                <a:ln>
                  <a:noFill/>
                </a:ln>
                <a:effectLst/>
                <a:latin typeface="Arial" panose="020B0604020202020204" pitchFamily="34" charset="0"/>
              </a:rPr>
              <a:t>Particle Swarm Optimization (PSO):</a:t>
            </a:r>
            <a:endParaRPr kumimoji="0" lang="en-US" altLang="en-US" sz="1500"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Utilizado</a:t>
            </a:r>
            <a:r>
              <a:rPr kumimoji="0" lang="en-US" altLang="en-US" sz="1500" b="0" i="0" u="none" strike="noStrike" cap="none" normalizeH="0" baseline="0">
                <a:ln>
                  <a:noFill/>
                </a:ln>
                <a:effectLst/>
                <a:latin typeface="Arial" panose="020B0604020202020204" pitchFamily="34" charset="0"/>
              </a:rPr>
              <a:t> para </a:t>
            </a:r>
            <a:r>
              <a:rPr kumimoji="0" lang="en-US" altLang="en-US" sz="1500" b="0" i="0" u="none" strike="noStrike" cap="none" normalizeH="0" baseline="0" err="1">
                <a:ln>
                  <a:noFill/>
                </a:ln>
                <a:effectLst/>
                <a:latin typeface="Arial" panose="020B0604020202020204" pitchFamily="34" charset="0"/>
              </a:rPr>
              <a:t>optimizar</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los</a:t>
            </a:r>
            <a:r>
              <a:rPr kumimoji="0" lang="en-US" altLang="en-US" sz="1500" b="0" i="0" u="none" strike="noStrike" cap="none" normalizeH="0" baseline="0">
                <a:ln>
                  <a:noFill/>
                </a:ln>
                <a:effectLst/>
                <a:latin typeface="Arial" panose="020B0604020202020204" pitchFamily="34" charset="0"/>
              </a:rPr>
              <a:t> pesos de la </a:t>
            </a:r>
            <a:r>
              <a:rPr kumimoji="0" lang="en-US" altLang="en-US" sz="1500" b="1" i="0" u="none" strike="noStrike" cap="none" normalizeH="0" baseline="0">
                <a:ln>
                  <a:noFill/>
                </a:ln>
                <a:effectLst/>
                <a:latin typeface="Arial" panose="020B0604020202020204" pitchFamily="34" charset="0"/>
              </a:rPr>
              <a:t>Red Neuronal </a:t>
            </a:r>
            <a:r>
              <a:rPr kumimoji="0" lang="en-US" altLang="en-US" sz="1500" b="1" i="0" u="none" strike="noStrike" cap="none" normalizeH="0" baseline="0" err="1">
                <a:ln>
                  <a:noFill/>
                </a:ln>
                <a:effectLst/>
                <a:latin typeface="Arial" panose="020B0604020202020204" pitchFamily="34" charset="0"/>
              </a:rPr>
              <a:t>Competitiva</a:t>
            </a:r>
            <a:r>
              <a:rPr kumimoji="0" lang="en-US" altLang="en-US" sz="1500" b="0" i="0" u="none" strike="noStrike" cap="none" normalizeH="0" baseline="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1" i="0" u="none" strike="noStrike" cap="none" normalizeH="0" baseline="0" err="1">
                <a:ln>
                  <a:noFill/>
                </a:ln>
                <a:effectLst/>
                <a:latin typeface="Arial" panose="020B0604020202020204" pitchFamily="34" charset="0"/>
              </a:rPr>
              <a:t>Función</a:t>
            </a:r>
            <a:r>
              <a:rPr kumimoji="0" lang="en-US" altLang="en-US" sz="1500" b="1" i="0" u="none" strike="noStrike" cap="none" normalizeH="0" baseline="0">
                <a:ln>
                  <a:noFill/>
                </a:ln>
                <a:effectLst/>
                <a:latin typeface="Arial" panose="020B0604020202020204" pitchFamily="34" charset="0"/>
              </a:rPr>
              <a:t> Fitness:</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Exactitud</a:t>
            </a:r>
            <a:r>
              <a:rPr kumimoji="0" lang="en-US" altLang="en-US" sz="1500" b="0" i="0" u="none" strike="noStrike" cap="none" normalizeH="0" baseline="0">
                <a:ln>
                  <a:noFill/>
                </a:ln>
                <a:effectLst/>
                <a:latin typeface="Arial" panose="020B0604020202020204" pitchFamily="34" charset="0"/>
              </a:rPr>
              <a:t> (Accuracy) de la </a:t>
            </a:r>
            <a:r>
              <a:rPr kumimoji="0" lang="en-US" altLang="en-US" sz="1500" b="0" i="0" u="none" strike="noStrike" cap="none" normalizeH="0" baseline="0" err="1">
                <a:ln>
                  <a:noFill/>
                </a:ln>
                <a:effectLst/>
                <a:latin typeface="Arial" panose="020B0604020202020204" pitchFamily="34" charset="0"/>
              </a:rPr>
              <a:t>clasificación</a:t>
            </a:r>
            <a:r>
              <a:rPr kumimoji="0" lang="en-US" altLang="en-US" sz="1500" b="0" i="0" u="none" strike="noStrike" cap="none" normalizeH="0" baseline="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500"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1" i="0" u="none" strike="noStrike" cap="none" normalizeH="0" baseline="0" err="1">
                <a:ln>
                  <a:noFill/>
                </a:ln>
                <a:effectLst/>
                <a:latin typeface="Arial" panose="020B0604020202020204" pitchFamily="34" charset="0"/>
              </a:rPr>
              <a:t>Algoritmo</a:t>
            </a:r>
            <a:r>
              <a:rPr kumimoji="0" lang="en-US" altLang="en-US" sz="1500" b="1" i="0" u="none" strike="noStrike" cap="none" normalizeH="0" baseline="0">
                <a:ln>
                  <a:noFill/>
                </a:ln>
                <a:effectLst/>
                <a:latin typeface="Arial" panose="020B0604020202020204" pitchFamily="34" charset="0"/>
              </a:rPr>
              <a:t> </a:t>
            </a:r>
            <a:r>
              <a:rPr kumimoji="0" lang="en-US" altLang="en-US" sz="1500" b="1" i="0" u="none" strike="noStrike" cap="none" normalizeH="0" baseline="0" err="1">
                <a:ln>
                  <a:noFill/>
                </a:ln>
                <a:effectLst/>
                <a:latin typeface="Arial" panose="020B0604020202020204" pitchFamily="34" charset="0"/>
              </a:rPr>
              <a:t>Genético</a:t>
            </a:r>
            <a:r>
              <a:rPr kumimoji="0" lang="en-US" altLang="en-US" sz="1500" b="1" i="0" u="none" strike="noStrike" cap="none" normalizeH="0" baseline="0">
                <a:ln>
                  <a:noFill/>
                </a:ln>
                <a:effectLst/>
                <a:latin typeface="Arial" panose="020B0604020202020204" pitchFamily="34" charset="0"/>
              </a:rPr>
              <a:t> (GA) para Ensemble:</a:t>
            </a:r>
            <a:endParaRPr kumimoji="0" lang="en-US" altLang="en-US" sz="1500"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Optimiza</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los</a:t>
            </a:r>
            <a:r>
              <a:rPr kumimoji="0" lang="en-US" altLang="en-US" sz="1500" b="0" i="0" u="none" strike="noStrike" cap="none" normalizeH="0" baseline="0">
                <a:ln>
                  <a:noFill/>
                </a:ln>
                <a:effectLst/>
                <a:latin typeface="Arial" panose="020B0604020202020204" pitchFamily="34" charset="0"/>
              </a:rPr>
              <a:t> pesos de </a:t>
            </a:r>
            <a:r>
              <a:rPr kumimoji="0" lang="en-US" altLang="en-US" sz="1500" b="0" i="0" u="none" strike="noStrike" cap="none" normalizeH="0" baseline="0" err="1">
                <a:ln>
                  <a:noFill/>
                </a:ln>
                <a:effectLst/>
                <a:latin typeface="Arial" panose="020B0604020202020204" pitchFamily="34" charset="0"/>
              </a:rPr>
              <a:t>votación</a:t>
            </a:r>
            <a:r>
              <a:rPr kumimoji="0" lang="en-US" altLang="en-US" sz="1500" b="0" i="0" u="none" strike="noStrike" cap="none" normalizeH="0" baseline="0">
                <a:ln>
                  <a:noFill/>
                </a:ln>
                <a:effectLst/>
                <a:latin typeface="Arial" panose="020B0604020202020204" pitchFamily="34" charset="0"/>
              </a:rPr>
              <a:t> de un </a:t>
            </a:r>
            <a:r>
              <a:rPr kumimoji="0" lang="en-US" altLang="en-US" sz="1500" b="0" i="0" u="none" strike="noStrike" cap="none" normalizeH="0" baseline="0" err="1">
                <a:ln>
                  <a:noFill/>
                </a:ln>
                <a:effectLst/>
                <a:latin typeface="Arial" panose="020B0604020202020204" pitchFamily="34" charset="0"/>
              </a:rPr>
              <a:t>ensamble</a:t>
            </a:r>
            <a:r>
              <a:rPr kumimoji="0" lang="en-US" altLang="en-US" sz="1500" b="0" i="0" u="none" strike="noStrike" cap="none" normalizeH="0" baseline="0">
                <a:ln>
                  <a:noFill/>
                </a:ln>
                <a:effectLst/>
                <a:latin typeface="Arial" panose="020B0604020202020204" pitchFamily="34" charset="0"/>
              </a:rPr>
              <a:t> de </a:t>
            </a:r>
            <a:r>
              <a:rPr kumimoji="0" lang="en-US" altLang="en-US" sz="1500" b="0" i="0" u="none" strike="noStrike" cap="none" normalizeH="0" baseline="0" err="1">
                <a:ln>
                  <a:noFill/>
                </a:ln>
                <a:effectLst/>
                <a:latin typeface="Arial" panose="020B0604020202020204" pitchFamily="34" charset="0"/>
              </a:rPr>
              <a:t>modelos</a:t>
            </a:r>
            <a:r>
              <a:rPr kumimoji="0" lang="en-US" altLang="en-US" sz="1500" b="0" i="0" u="none" strike="noStrike" cap="none" normalizeH="0" baseline="0">
                <a:ln>
                  <a:noFill/>
                </a:ln>
                <a:effectLst/>
                <a:latin typeface="Arial" panose="020B0604020202020204" pitchFamily="34" charset="0"/>
              </a:rPr>
              <a:t>.</a:t>
            </a: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Individuos</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codifican</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el</a:t>
            </a:r>
            <a:r>
              <a:rPr kumimoji="0" lang="en-US" altLang="en-US" sz="1500" b="0" i="0" u="none" strike="noStrike" cap="none" normalizeH="0" baseline="0">
                <a:ln>
                  <a:noFill/>
                </a:ln>
                <a:effectLst/>
                <a:latin typeface="Arial" panose="020B0604020202020204" pitchFamily="34" charset="0"/>
              </a:rPr>
              <a:t> peso de </a:t>
            </a:r>
            <a:r>
              <a:rPr kumimoji="0" lang="en-US" altLang="en-US" sz="1500" b="0" i="0" u="none" strike="noStrike" cap="none" normalizeH="0" baseline="0" err="1">
                <a:ln>
                  <a:noFill/>
                </a:ln>
                <a:effectLst/>
                <a:latin typeface="Arial" panose="020B0604020202020204" pitchFamily="34" charset="0"/>
              </a:rPr>
              <a:t>importancia</a:t>
            </a:r>
            <a:r>
              <a:rPr kumimoji="0" lang="en-US" altLang="en-US" sz="1500" b="0" i="0" u="none" strike="noStrike" cap="none" normalizeH="0" baseline="0">
                <a:ln>
                  <a:noFill/>
                </a:ln>
                <a:effectLst/>
                <a:latin typeface="Arial" panose="020B0604020202020204" pitchFamily="34" charset="0"/>
              </a:rPr>
              <a:t> de </a:t>
            </a:r>
            <a:r>
              <a:rPr kumimoji="0" lang="en-US" altLang="en-US" sz="1500" b="0" i="0" u="none" strike="noStrike" cap="none" normalizeH="0" baseline="0" err="1">
                <a:ln>
                  <a:noFill/>
                </a:ln>
                <a:effectLst/>
                <a:latin typeface="Arial" panose="020B0604020202020204" pitchFamily="34" charset="0"/>
              </a:rPr>
              <a:t>cada</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modelo</a:t>
            </a:r>
            <a:r>
              <a:rPr kumimoji="0" lang="en-US" altLang="en-US" sz="1500" b="0" i="0" u="none" strike="noStrike" cap="none" normalizeH="0" baseline="0">
                <a:ln>
                  <a:noFill/>
                </a:ln>
                <a:effectLst/>
                <a:latin typeface="Arial" panose="020B0604020202020204" pitchFamily="34" charset="0"/>
              </a:rPr>
              <a:t> base.</a:t>
            </a:r>
          </a:p>
          <a:p>
            <a:pPr marL="0" marR="0" lvl="0" indent="0" defTabSz="914400" rtl="0" eaLnBrk="0" fontAlgn="base" latinLnBrk="0" hangingPunct="0">
              <a:lnSpc>
                <a:spcPct val="100000"/>
              </a:lnSpc>
              <a:spcBef>
                <a:spcPct val="0"/>
              </a:spcBef>
              <a:spcAft>
                <a:spcPts val="600"/>
              </a:spcAft>
              <a:buClrTx/>
              <a:buSzTx/>
              <a:buFontTx/>
              <a:buNone/>
              <a:tabLst/>
            </a:pPr>
            <a:endParaRPr kumimoji="0" lang="en-US" altLang="en-US" sz="1500"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00000"/>
              </a:lnSpc>
              <a:spcBef>
                <a:spcPct val="0"/>
              </a:spcBef>
              <a:spcAft>
                <a:spcPts val="600"/>
              </a:spcAft>
              <a:buClrTx/>
              <a:buSzTx/>
              <a:buFontTx/>
              <a:buNone/>
              <a:tabLst/>
            </a:pPr>
            <a:r>
              <a:rPr kumimoji="0" lang="en-US" altLang="en-US" sz="1500" b="0" i="0" u="none" strike="noStrike" cap="none" normalizeH="0" baseline="0">
                <a:ln>
                  <a:noFill/>
                </a:ln>
                <a:effectLst/>
                <a:latin typeface="Arial" panose="020B0604020202020204" pitchFamily="34" charset="0"/>
              </a:rPr>
              <a:t>• </a:t>
            </a:r>
            <a:r>
              <a:rPr kumimoji="0" lang="en-US" altLang="en-US" sz="1500" b="1" i="0" u="none" strike="noStrike" cap="none" normalizeH="0" baseline="0" err="1">
                <a:ln>
                  <a:noFill/>
                </a:ln>
                <a:effectLst/>
                <a:latin typeface="Arial" panose="020B0604020202020204" pitchFamily="34" charset="0"/>
              </a:rPr>
              <a:t>Resultado</a:t>
            </a:r>
            <a:r>
              <a:rPr kumimoji="0" lang="en-US" altLang="en-US" sz="1500" b="1" i="0" u="none" strike="noStrike" cap="none" normalizeH="0" baseline="0">
                <a:ln>
                  <a:noFill/>
                </a:ln>
                <a:effectLst/>
                <a:latin typeface="Arial" panose="020B0604020202020204" pitchFamily="34" charset="0"/>
              </a:rPr>
              <a:t>:</a:t>
            </a:r>
            <a:r>
              <a:rPr kumimoji="0" lang="en-US" altLang="en-US" sz="1500" b="0" i="0" u="none" strike="noStrike" cap="none" normalizeH="0" baseline="0">
                <a:ln>
                  <a:noFill/>
                </a:ln>
                <a:effectLst/>
                <a:latin typeface="Arial" panose="020B0604020202020204" pitchFamily="34" charset="0"/>
              </a:rPr>
              <a:t> El </a:t>
            </a:r>
            <a:r>
              <a:rPr kumimoji="0" lang="en-US" altLang="en-US" sz="1500" b="0" i="0" u="none" strike="noStrike" cap="none" normalizeH="0" baseline="0" err="1">
                <a:ln>
                  <a:noFill/>
                </a:ln>
                <a:effectLst/>
                <a:latin typeface="Arial" panose="020B0604020202020204" pitchFamily="34" charset="0"/>
              </a:rPr>
              <a:t>modelo</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híbrido</a:t>
            </a:r>
            <a:r>
              <a:rPr kumimoji="0" lang="en-US" altLang="en-US" sz="1500" b="0" i="0" u="none" strike="noStrike" cap="none" normalizeH="0" baseline="0">
                <a:ln>
                  <a:noFill/>
                </a:ln>
                <a:effectLst/>
                <a:latin typeface="Arial" panose="020B0604020202020204" pitchFamily="34" charset="0"/>
              </a:rPr>
              <a:t> </a:t>
            </a:r>
            <a:r>
              <a:rPr kumimoji="0" lang="en-US" altLang="en-US" sz="1500" b="1" i="0" u="none" strike="noStrike" cap="none" normalizeH="0" baseline="0">
                <a:ln>
                  <a:noFill/>
                </a:ln>
                <a:effectLst/>
                <a:latin typeface="Arial" panose="020B0604020202020204" pitchFamily="34" charset="0"/>
              </a:rPr>
              <a:t>RedCompPSO</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superó</a:t>
            </a:r>
            <a:r>
              <a:rPr kumimoji="0" lang="en-US" altLang="en-US" sz="1500" b="0" i="0" u="none" strike="noStrike" cap="none" normalizeH="0" baseline="0">
                <a:ln>
                  <a:noFill/>
                </a:ln>
                <a:effectLst/>
                <a:latin typeface="Arial" panose="020B0604020202020204" pitchFamily="34" charset="0"/>
              </a:rPr>
              <a:t> a </a:t>
            </a:r>
            <a:r>
              <a:rPr kumimoji="0" lang="en-US" altLang="en-US" sz="1500" b="0" i="0" u="none" strike="noStrike" cap="none" normalizeH="0" baseline="0" err="1">
                <a:ln>
                  <a:noFill/>
                </a:ln>
                <a:effectLst/>
                <a:latin typeface="Arial" panose="020B0604020202020204" pitchFamily="34" charset="0"/>
              </a:rPr>
              <a:t>los</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modelos</a:t>
            </a:r>
            <a:r>
              <a:rPr kumimoji="0" lang="en-US" altLang="en-US" sz="1500" b="0" i="0" u="none" strike="noStrike" cap="none" normalizeH="0" baseline="0">
                <a:ln>
                  <a:noFill/>
                </a:ln>
                <a:effectLst/>
                <a:latin typeface="Arial" panose="020B0604020202020204" pitchFamily="34" charset="0"/>
              </a:rPr>
              <a:t> </a:t>
            </a:r>
            <a:r>
              <a:rPr kumimoji="0" lang="en-US" altLang="en-US" sz="1500" b="0" i="0" u="none" strike="noStrike" cap="none" normalizeH="0" baseline="0" err="1">
                <a:ln>
                  <a:noFill/>
                </a:ln>
                <a:effectLst/>
                <a:latin typeface="Arial" panose="020B0604020202020204" pitchFamily="34" charset="0"/>
              </a:rPr>
              <a:t>individuales</a:t>
            </a:r>
            <a:endParaRPr kumimoji="0" lang="en-US" altLang="en-US" sz="15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406855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DDDD434-511E-DF2C-DFCC-6E7BC82775C9}"/>
              </a:ext>
            </a:extLst>
          </p:cNvPr>
          <p:cNvSpPr>
            <a:spLocks noGrp="1"/>
          </p:cNvSpPr>
          <p:nvPr>
            <p:ph type="title"/>
          </p:nvPr>
        </p:nvSpPr>
        <p:spPr>
          <a:xfrm>
            <a:off x="521208" y="978408"/>
            <a:ext cx="6300216" cy="1463040"/>
          </a:xfrm>
        </p:spPr>
        <p:txBody>
          <a:bodyPr>
            <a:normAutofit/>
          </a:bodyPr>
          <a:lstStyle/>
          <a:p>
            <a:r>
              <a:rPr lang="en-US" dirty="0" err="1"/>
              <a:t>Modelos</a:t>
            </a:r>
            <a:r>
              <a:rPr lang="en-US" dirty="0"/>
              <a:t> </a:t>
            </a:r>
            <a:r>
              <a:rPr lang="en-US" dirty="0" err="1"/>
              <a:t>Predictivos</a:t>
            </a:r>
            <a:r>
              <a:rPr lang="en-US" dirty="0"/>
              <a:t> de Series </a:t>
            </a:r>
            <a:r>
              <a:rPr lang="en-US" dirty="0" err="1"/>
              <a:t>Temporales</a:t>
            </a:r>
            <a:endParaRPr lang="en-US" dirty="0"/>
          </a:p>
        </p:txBody>
      </p:sp>
      <p:sp>
        <p:nvSpPr>
          <p:cNvPr id="15" name="Rectangle 14">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51BB7E59-EB01-B517-C162-399C0D066B83}"/>
              </a:ext>
            </a:extLst>
          </p:cNvPr>
          <p:cNvSpPr>
            <a:spLocks noGrp="1" noChangeArrowheads="1"/>
          </p:cNvSpPr>
          <p:nvPr>
            <p:ph idx="1"/>
          </p:nvPr>
        </p:nvSpPr>
        <p:spPr bwMode="auto">
          <a:xfrm>
            <a:off x="521208" y="2578608"/>
            <a:ext cx="6300216" cy="37673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a:ln>
                  <a:noFill/>
                </a:ln>
                <a:effectLst/>
                <a:latin typeface="Arial" panose="020B0604020202020204" pitchFamily="34" charset="0"/>
              </a:rPr>
              <a:t>ADALINE con </a:t>
            </a:r>
            <a:r>
              <a:rPr kumimoji="0" lang="en-US" altLang="en-US" b="1" i="0" u="none" strike="noStrike" cap="none" normalizeH="0" baseline="0" err="1">
                <a:ln>
                  <a:noFill/>
                </a:ln>
                <a:effectLst/>
                <a:latin typeface="Arial" panose="020B0604020202020204" pitchFamily="34" charset="0"/>
              </a:rPr>
              <a:t>Regularización</a:t>
            </a:r>
            <a:r>
              <a:rPr kumimoji="0" lang="en-US" altLang="en-US" b="1" i="0" u="none" strike="noStrike" cap="none" normalizeH="0" baseline="0">
                <a:ln>
                  <a:noFill/>
                </a:ln>
                <a:effectLst/>
                <a:latin typeface="Arial" panose="020B0604020202020204" pitchFamily="34" charset="0"/>
              </a:rPr>
              <a:t> L2:</a:t>
            </a:r>
            <a:r>
              <a:rPr kumimoji="0" lang="en-US" altLang="en-US" b="0" i="0" u="none" strike="noStrike" cap="none" normalizeH="0" baseline="0">
                <a:ln>
                  <a:noFill/>
                </a:ln>
                <a:effectLst/>
                <a:latin typeface="Arial" panose="020B0604020202020204" pitchFamily="34" charset="0"/>
              </a:rPr>
              <a:t> Modelo lineal con </a:t>
            </a:r>
            <a:r>
              <a:rPr kumimoji="0" lang="en-US" altLang="en-US" b="0" i="0" u="none" strike="noStrike" cap="none" normalizeH="0" baseline="0" err="1">
                <a:ln>
                  <a:noFill/>
                </a:ln>
                <a:effectLst/>
                <a:latin typeface="Arial" panose="020B0604020202020204" pitchFamily="34" charset="0"/>
              </a:rPr>
              <a:t>función</a:t>
            </a:r>
            <a:r>
              <a:rPr kumimoji="0" lang="en-US" altLang="en-US" b="0" i="0" u="none" strike="noStrike" cap="none" normalizeH="0" baseline="0">
                <a:ln>
                  <a:noFill/>
                </a:ln>
                <a:effectLst/>
                <a:latin typeface="Arial" panose="020B0604020202020204" pitchFamily="34" charset="0"/>
              </a:rPr>
              <a:t> de </a:t>
            </a:r>
            <a:r>
              <a:rPr kumimoji="0" lang="en-US" altLang="en-US" b="0" i="0" u="none" strike="noStrike" cap="none" normalizeH="0" baseline="0" err="1">
                <a:ln>
                  <a:noFill/>
                </a:ln>
                <a:effectLst/>
                <a:latin typeface="Arial" panose="020B0604020202020204" pitchFamily="34" charset="0"/>
              </a:rPr>
              <a:t>costo</a:t>
            </a:r>
            <a:r>
              <a:rPr kumimoji="0" lang="en-US" altLang="en-US" b="0" i="0" u="none" strike="noStrike" cap="none" normalizeH="0" baseline="0">
                <a:ln>
                  <a:noFill/>
                </a:ln>
                <a:effectLst/>
                <a:latin typeface="Arial" panose="020B0604020202020204" pitchFamily="34" charset="0"/>
              </a:rPr>
              <a:t> </a:t>
            </a:r>
            <a:r>
              <a:rPr kumimoji="0" lang="en-US" altLang="en-US" b="0" i="0" u="none" strike="noStrike" cap="none" normalizeH="0" baseline="0" err="1">
                <a:ln>
                  <a:noFill/>
                </a:ln>
                <a:effectLst/>
                <a:latin typeface="Arial" panose="020B0604020202020204" pitchFamily="34" charset="0"/>
              </a:rPr>
              <a:t>cuadrática</a:t>
            </a:r>
            <a:r>
              <a:rPr kumimoji="0" lang="en-US" altLang="en-US" b="0" i="0" u="none" strike="noStrike" cap="none" normalizeH="0" baseline="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err="1">
                <a:ln>
                  <a:noFill/>
                </a:ln>
                <a:effectLst/>
                <a:latin typeface="Arial" panose="020B0604020202020204" pitchFamily="34" charset="0"/>
              </a:rPr>
              <a:t>Perceptrón</a:t>
            </a:r>
            <a:r>
              <a:rPr kumimoji="0" lang="en-US" altLang="en-US" b="1" i="0" u="none" strike="noStrike" cap="none" normalizeH="0" baseline="0">
                <a:ln>
                  <a:noFill/>
                </a:ln>
                <a:effectLst/>
                <a:latin typeface="Arial" panose="020B0604020202020204" pitchFamily="34" charset="0"/>
              </a:rPr>
              <a:t> </a:t>
            </a:r>
            <a:r>
              <a:rPr kumimoji="0" lang="en-US" altLang="en-US" b="1" i="0" u="none" strike="noStrike" cap="none" normalizeH="0" baseline="0" err="1">
                <a:ln>
                  <a:noFill/>
                </a:ln>
                <a:effectLst/>
                <a:latin typeface="Arial" panose="020B0604020202020204" pitchFamily="34" charset="0"/>
              </a:rPr>
              <a:t>Multicapa</a:t>
            </a:r>
            <a:r>
              <a:rPr kumimoji="0" lang="en-US" altLang="en-US" b="1" i="0" u="none" strike="noStrike" cap="none" normalizeH="0" baseline="0">
                <a:ln>
                  <a:noFill/>
                </a:ln>
                <a:effectLst/>
                <a:latin typeface="Arial" panose="020B0604020202020204" pitchFamily="34" charset="0"/>
              </a:rPr>
              <a:t> (MLP):</a:t>
            </a:r>
            <a:r>
              <a:rPr kumimoji="0" lang="en-US" altLang="en-US" b="0" i="0" u="none" strike="noStrike" cap="none" normalizeH="0" baseline="0">
                <a:ln>
                  <a:noFill/>
                </a:ln>
                <a:effectLst/>
                <a:latin typeface="Arial" panose="020B0604020202020204" pitchFamily="34" charset="0"/>
              </a:rPr>
              <a:t> Red profunda con </a:t>
            </a:r>
            <a:r>
              <a:rPr kumimoji="0" lang="en-US" altLang="en-US" b="0" i="0" u="none" strike="noStrike" cap="none" normalizeH="0" baseline="0" err="1">
                <a:ln>
                  <a:noFill/>
                </a:ln>
                <a:effectLst/>
                <a:latin typeface="Arial" panose="020B0604020202020204" pitchFamily="34" charset="0"/>
              </a:rPr>
              <a:t>arquitectura</a:t>
            </a:r>
            <a:r>
              <a:rPr kumimoji="0" lang="en-US" altLang="en-US" b="0" i="0" u="none" strike="noStrike" cap="none" normalizeH="0" baseline="0">
                <a:ln>
                  <a:noFill/>
                </a:ln>
                <a:effectLst/>
                <a:latin typeface="Arial" panose="020B0604020202020204" pitchFamily="34" charset="0"/>
              </a:rPr>
              <a:t>--- y </a:t>
            </a:r>
            <a:r>
              <a:rPr kumimoji="0" lang="en-US" altLang="en-US" b="0" i="0" u="none" strike="noStrike" cap="none" normalizeH="0" baseline="0" err="1">
                <a:ln>
                  <a:noFill/>
                </a:ln>
                <a:effectLst/>
                <a:latin typeface="Arial" panose="020B0604020202020204" pitchFamily="34" charset="0"/>
              </a:rPr>
              <a:t>retropropagación</a:t>
            </a:r>
            <a:r>
              <a:rPr kumimoji="0" lang="en-US" altLang="en-US" b="0" i="0" u="none" strike="noStrike" cap="none" normalizeH="0" baseline="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a:ln>
                  <a:noFill/>
                </a:ln>
                <a:effectLst/>
                <a:latin typeface="Arial" panose="020B0604020202020204" pitchFamily="34" charset="0"/>
              </a:rPr>
              <a:t>LSTM (Long Short-Term Memory):</a:t>
            </a:r>
            <a:r>
              <a:rPr kumimoji="0" lang="en-US" altLang="en-US" b="0" i="0" u="none" strike="noStrike" cap="none" normalizeH="0" baseline="0">
                <a:ln>
                  <a:noFill/>
                </a:ln>
                <a:effectLst/>
                <a:latin typeface="Arial" panose="020B0604020202020204" pitchFamily="34" charset="0"/>
              </a:rPr>
              <a:t> Red </a:t>
            </a:r>
            <a:r>
              <a:rPr kumimoji="0" lang="en-US" altLang="en-US" b="0" i="0" u="none" strike="noStrike" cap="none" normalizeH="0" baseline="0" err="1">
                <a:ln>
                  <a:noFill/>
                </a:ln>
                <a:effectLst/>
                <a:latin typeface="Arial" panose="020B0604020202020204" pitchFamily="34" charset="0"/>
              </a:rPr>
              <a:t>recurrente</a:t>
            </a:r>
            <a:r>
              <a:rPr kumimoji="0" lang="en-US" altLang="en-US" b="0" i="0" u="none" strike="noStrike" cap="none" normalizeH="0" baseline="0">
                <a:ln>
                  <a:noFill/>
                </a:ln>
                <a:effectLst/>
                <a:latin typeface="Arial" panose="020B0604020202020204" pitchFamily="34" charset="0"/>
              </a:rPr>
              <a:t> </a:t>
            </a:r>
            <a:r>
              <a:rPr kumimoji="0" lang="en-US" altLang="en-US" b="0" i="0" u="none" strike="noStrike" cap="none" normalizeH="0" baseline="0" err="1">
                <a:ln>
                  <a:noFill/>
                </a:ln>
                <a:effectLst/>
                <a:latin typeface="Arial" panose="020B0604020202020204" pitchFamily="34" charset="0"/>
              </a:rPr>
              <a:t>diseñada</a:t>
            </a:r>
            <a:r>
              <a:rPr kumimoji="0" lang="en-US" altLang="en-US" b="0" i="0" u="none" strike="noStrike" cap="none" normalizeH="0" baseline="0">
                <a:ln>
                  <a:noFill/>
                </a:ln>
                <a:effectLst/>
                <a:latin typeface="Arial" panose="020B0604020202020204" pitchFamily="34" charset="0"/>
              </a:rPr>
              <a:t> para </a:t>
            </a:r>
            <a:r>
              <a:rPr kumimoji="0" lang="en-US" altLang="en-US" b="0" i="0" u="none" strike="noStrike" cap="none" normalizeH="0" baseline="0" err="1">
                <a:ln>
                  <a:noFill/>
                </a:ln>
                <a:effectLst/>
                <a:latin typeface="Arial" panose="020B0604020202020204" pitchFamily="34" charset="0"/>
              </a:rPr>
              <a:t>capturar</a:t>
            </a:r>
            <a:r>
              <a:rPr kumimoji="0" lang="en-US" altLang="en-US" b="0" i="0" u="none" strike="noStrike" cap="none" normalizeH="0" baseline="0">
                <a:ln>
                  <a:noFill/>
                </a:ln>
                <a:effectLst/>
                <a:latin typeface="Arial" panose="020B0604020202020204" pitchFamily="34" charset="0"/>
              </a:rPr>
              <a:t> </a:t>
            </a:r>
            <a:r>
              <a:rPr kumimoji="0" lang="en-US" altLang="en-US" b="0" i="0" u="none" strike="noStrike" cap="none" normalizeH="0" baseline="0" err="1">
                <a:ln>
                  <a:noFill/>
                </a:ln>
                <a:effectLst/>
                <a:latin typeface="Arial" panose="020B0604020202020204" pitchFamily="34" charset="0"/>
              </a:rPr>
              <a:t>dependencias</a:t>
            </a:r>
            <a:r>
              <a:rPr kumimoji="0" lang="en-US" altLang="en-US" b="0" i="0" u="none" strike="noStrike" cap="none" normalizeH="0" baseline="0">
                <a:ln>
                  <a:noFill/>
                </a:ln>
                <a:effectLst/>
                <a:latin typeface="Arial" panose="020B0604020202020204" pitchFamily="34" charset="0"/>
              </a:rPr>
              <a:t> </a:t>
            </a:r>
            <a:r>
              <a:rPr kumimoji="0" lang="en-US" altLang="en-US" b="0" i="0" u="none" strike="noStrike" cap="none" normalizeH="0" baseline="0" err="1">
                <a:ln>
                  <a:noFill/>
                </a:ln>
                <a:effectLst/>
                <a:latin typeface="Arial" panose="020B0604020202020204" pitchFamily="34" charset="0"/>
              </a:rPr>
              <a:t>temporales</a:t>
            </a:r>
            <a:r>
              <a:rPr kumimoji="0" lang="en-US" altLang="en-US" b="0" i="0" u="none" strike="noStrike" cap="none" normalizeH="0" baseline="0">
                <a:ln>
                  <a:noFill/>
                </a:ln>
                <a:effectLst/>
                <a:latin typeface="Arial" panose="020B0604020202020204" pitchFamily="34" charset="0"/>
              </a:rPr>
              <a:t> y </a:t>
            </a:r>
            <a:r>
              <a:rPr kumimoji="0" lang="en-US" altLang="en-US" b="0" i="0" u="none" strike="noStrike" cap="none" normalizeH="0" baseline="0" err="1">
                <a:ln>
                  <a:noFill/>
                </a:ln>
                <a:effectLst/>
                <a:latin typeface="Arial" panose="020B0604020202020204" pitchFamily="34" charset="0"/>
              </a:rPr>
              <a:t>evitar</a:t>
            </a:r>
            <a:r>
              <a:rPr kumimoji="0" lang="en-US" altLang="en-US" b="0" i="0" u="none" strike="noStrike" cap="none" normalizeH="0" baseline="0">
                <a:ln>
                  <a:noFill/>
                </a:ln>
                <a:effectLst/>
                <a:latin typeface="Arial" panose="020B0604020202020204" pitchFamily="34" charset="0"/>
              </a:rPr>
              <a:t> </a:t>
            </a:r>
            <a:r>
              <a:rPr kumimoji="0" lang="en-US" altLang="en-US" b="0" i="0" u="none" strike="noStrike" cap="none" normalizeH="0" baseline="0" err="1">
                <a:ln>
                  <a:noFill/>
                </a:ln>
                <a:effectLst/>
                <a:latin typeface="Arial" panose="020B0604020202020204" pitchFamily="34" charset="0"/>
              </a:rPr>
              <a:t>el</a:t>
            </a:r>
            <a:r>
              <a:rPr kumimoji="0" lang="en-US" altLang="en-US" b="0" i="0" u="none" strike="noStrike" cap="none" normalizeH="0" baseline="0">
                <a:ln>
                  <a:noFill/>
                </a:ln>
                <a:effectLst/>
                <a:latin typeface="Arial" panose="020B0604020202020204" pitchFamily="34" charset="0"/>
              </a:rPr>
              <a:t> </a:t>
            </a:r>
            <a:r>
              <a:rPr kumimoji="0" lang="en-US" altLang="en-US" b="0" i="0" u="none" strike="noStrike" cap="none" normalizeH="0" baseline="0" err="1">
                <a:ln>
                  <a:noFill/>
                </a:ln>
                <a:effectLst/>
                <a:latin typeface="Arial" panose="020B0604020202020204" pitchFamily="34" charset="0"/>
              </a:rPr>
              <a:t>desvanecimiento</a:t>
            </a:r>
            <a:r>
              <a:rPr kumimoji="0" lang="en-US" altLang="en-US" b="0" i="0" u="none" strike="noStrike" cap="none" normalizeH="0" baseline="0">
                <a:ln>
                  <a:noFill/>
                </a:ln>
                <a:effectLst/>
                <a:latin typeface="Arial" panose="020B0604020202020204" pitchFamily="34" charset="0"/>
              </a:rPr>
              <a:t> del </a:t>
            </a:r>
            <a:r>
              <a:rPr kumimoji="0" lang="en-US" altLang="en-US" b="0" i="0" u="none" strike="noStrike" cap="none" normalizeH="0" baseline="0" err="1">
                <a:ln>
                  <a:noFill/>
                </a:ln>
                <a:effectLst/>
                <a:latin typeface="Arial" panose="020B0604020202020204" pitchFamily="34" charset="0"/>
              </a:rPr>
              <a:t>gradiente</a:t>
            </a:r>
            <a:r>
              <a:rPr kumimoji="0" lang="en-US" altLang="en-US" b="0" i="0" u="none" strike="noStrike" cap="none" normalizeH="0" baseline="0">
                <a:ln>
                  <a:noFill/>
                </a:ln>
                <a:effectLst/>
                <a:latin typeface="Arial" panose="020B0604020202020204" pitchFamily="34" charset="0"/>
              </a:rPr>
              <a:t>.</a:t>
            </a:r>
          </a:p>
        </p:txBody>
      </p:sp>
      <p:pic>
        <p:nvPicPr>
          <p:cNvPr id="8" name="Picture 7">
            <a:extLst>
              <a:ext uri="{FF2B5EF4-FFF2-40B4-BE49-F238E27FC236}">
                <a16:creationId xmlns:a16="http://schemas.microsoft.com/office/drawing/2014/main" id="{95F58834-6C3A-038B-C1F8-EE260C6E794C}"/>
              </a:ext>
            </a:extLst>
          </p:cNvPr>
          <p:cNvPicPr>
            <a:picLocks noChangeAspect="1"/>
          </p:cNvPicPr>
          <p:nvPr/>
        </p:nvPicPr>
        <p:blipFill>
          <a:blip r:embed="rId3"/>
          <a:stretch>
            <a:fillRect/>
          </a:stretch>
        </p:blipFill>
        <p:spPr>
          <a:xfrm>
            <a:off x="7856193" y="3529484"/>
            <a:ext cx="3254733" cy="2807208"/>
          </a:xfrm>
          <a:prstGeom prst="rect">
            <a:avLst/>
          </a:prstGeom>
        </p:spPr>
      </p:pic>
      <p:pic>
        <p:nvPicPr>
          <p:cNvPr id="6" name="Picture 5">
            <a:extLst>
              <a:ext uri="{FF2B5EF4-FFF2-40B4-BE49-F238E27FC236}">
                <a16:creationId xmlns:a16="http://schemas.microsoft.com/office/drawing/2014/main" id="{B077A675-D05C-8BFB-D57F-5F61E4A5AB32}"/>
              </a:ext>
            </a:extLst>
          </p:cNvPr>
          <p:cNvPicPr>
            <a:picLocks noChangeAspect="1"/>
          </p:cNvPicPr>
          <p:nvPr/>
        </p:nvPicPr>
        <p:blipFill>
          <a:blip r:embed="rId4"/>
          <a:stretch>
            <a:fillRect/>
          </a:stretch>
        </p:blipFill>
        <p:spPr>
          <a:xfrm>
            <a:off x="7753629" y="447247"/>
            <a:ext cx="3459863" cy="2807208"/>
          </a:xfrm>
          <a:prstGeom prst="rect">
            <a:avLst/>
          </a:prstGeom>
        </p:spPr>
      </p:pic>
    </p:spTree>
    <p:extLst>
      <p:ext uri="{BB962C8B-B14F-4D97-AF65-F5344CB8AC3E}">
        <p14:creationId xmlns:p14="http://schemas.microsoft.com/office/powerpoint/2010/main" val="2107079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587D0C-7594-D4B3-E4E2-8F1F360BE99C}"/>
              </a:ext>
            </a:extLst>
          </p:cNvPr>
          <p:cNvSpPr>
            <a:spLocks noGrp="1"/>
          </p:cNvSpPr>
          <p:nvPr>
            <p:ph type="title"/>
          </p:nvPr>
        </p:nvSpPr>
        <p:spPr>
          <a:xfrm>
            <a:off x="6153912" y="978408"/>
            <a:ext cx="5513832" cy="1463040"/>
          </a:xfrm>
        </p:spPr>
        <p:txBody>
          <a:bodyPr>
            <a:normAutofit/>
          </a:bodyPr>
          <a:lstStyle/>
          <a:p>
            <a:pPr>
              <a:lnSpc>
                <a:spcPct val="90000"/>
              </a:lnSpc>
            </a:pPr>
            <a:r>
              <a:rPr lang="en-US" sz="3100" err="1"/>
              <a:t>Resultados</a:t>
            </a:r>
            <a:r>
              <a:rPr lang="en-US" sz="3100"/>
              <a:t> </a:t>
            </a:r>
            <a:r>
              <a:rPr lang="en-US" sz="3100" err="1"/>
              <a:t>Experimentales</a:t>
            </a:r>
            <a:r>
              <a:rPr lang="en-US" sz="3100"/>
              <a:t> - Clustering</a:t>
            </a:r>
          </a:p>
        </p:txBody>
      </p:sp>
      <p:pic>
        <p:nvPicPr>
          <p:cNvPr id="6" name="Picture 5">
            <a:extLst>
              <a:ext uri="{FF2B5EF4-FFF2-40B4-BE49-F238E27FC236}">
                <a16:creationId xmlns:a16="http://schemas.microsoft.com/office/drawing/2014/main" id="{43602873-804E-BD20-E8A7-F40561504B45}"/>
              </a:ext>
            </a:extLst>
          </p:cNvPr>
          <p:cNvPicPr>
            <a:picLocks noChangeAspect="1"/>
          </p:cNvPicPr>
          <p:nvPr/>
        </p:nvPicPr>
        <p:blipFill>
          <a:blip r:embed="rId3"/>
          <a:stretch>
            <a:fillRect/>
          </a:stretch>
        </p:blipFill>
        <p:spPr>
          <a:xfrm>
            <a:off x="517867" y="2286290"/>
            <a:ext cx="4959823" cy="2281518"/>
          </a:xfrm>
          <a:prstGeom prst="rect">
            <a:avLst/>
          </a:prstGeom>
        </p:spPr>
      </p:pic>
      <p:sp>
        <p:nvSpPr>
          <p:cNvPr id="13" name="Freeform: Shape 12">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1">
            <a:extLst>
              <a:ext uri="{FF2B5EF4-FFF2-40B4-BE49-F238E27FC236}">
                <a16:creationId xmlns:a16="http://schemas.microsoft.com/office/drawing/2014/main" id="{6A354C6D-EEEF-962C-2BAF-3248D02281B7}"/>
              </a:ext>
            </a:extLst>
          </p:cNvPr>
          <p:cNvSpPr>
            <a:spLocks noGrp="1" noChangeArrowheads="1"/>
          </p:cNvSpPr>
          <p:nvPr>
            <p:ph idx="1"/>
          </p:nvPr>
        </p:nvSpPr>
        <p:spPr bwMode="auto">
          <a:xfrm>
            <a:off x="6153912" y="2578608"/>
            <a:ext cx="5513832" cy="37673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700" b="1" i="0" u="none" strike="noStrike" cap="none" normalizeH="0" baseline="0">
                <a:ln>
                  <a:noFill/>
                </a:ln>
                <a:effectLst/>
                <a:latin typeface="Arial" panose="020B0604020202020204" pitchFamily="34" charset="0"/>
              </a:rPr>
              <a:t>Mejor Modelo:</a:t>
            </a:r>
            <a:r>
              <a:rPr kumimoji="0" lang="en-US" altLang="en-US" sz="1700" b="0" i="0" u="none" strike="noStrike" cap="none" normalizeH="0" baseline="0">
                <a:ln>
                  <a:noFill/>
                </a:ln>
                <a:effectLst/>
                <a:latin typeface="Arial" panose="020B0604020202020204" pitchFamily="34" charset="0"/>
              </a:rPr>
              <a:t> </a:t>
            </a:r>
            <a:r>
              <a:rPr kumimoji="0" lang="en-US" altLang="en-US" sz="1700" b="1" i="0" u="none" strike="noStrike" cap="none" normalizeH="0" baseline="0">
                <a:ln>
                  <a:noFill/>
                </a:ln>
                <a:effectLst/>
                <a:latin typeface="Arial" panose="020B0604020202020204" pitchFamily="34" charset="0"/>
              </a:rPr>
              <a:t>RedCompPSO</a:t>
            </a:r>
            <a:r>
              <a:rPr kumimoji="0" lang="en-US" altLang="en-US" sz="1700" b="0" i="0" u="none" strike="noStrike" cap="none" normalizeH="0" baseline="0">
                <a:ln>
                  <a:noFill/>
                </a:ln>
                <a:effectLst/>
                <a:latin typeface="Arial" panose="020B0604020202020204" pitchFamily="34" charset="0"/>
              </a:rPr>
              <a:t> (Red </a:t>
            </a:r>
            <a:r>
              <a:rPr kumimoji="0" lang="en-US" altLang="en-US" sz="1700" b="0" i="0" u="none" strike="noStrike" cap="none" normalizeH="0" baseline="0" err="1">
                <a:ln>
                  <a:noFill/>
                </a:ln>
                <a:effectLst/>
                <a:latin typeface="Arial" panose="020B0604020202020204" pitchFamily="34" charset="0"/>
              </a:rPr>
              <a:t>Competitiva</a:t>
            </a:r>
            <a:r>
              <a:rPr kumimoji="0" lang="en-US" altLang="en-US" sz="1700" b="0" i="0" u="none" strike="noStrike" cap="none" normalizeH="0" baseline="0">
                <a:ln>
                  <a:noFill/>
                </a:ln>
                <a:effectLst/>
                <a:latin typeface="Arial" panose="020B0604020202020204" pitchFamily="34" charset="0"/>
              </a:rPr>
              <a:t> + PSO).</a:t>
            </a:r>
          </a:p>
          <a:p>
            <a:pPr marL="0" marR="0" lvl="0" indent="0" defTabSz="914400" rtl="0" eaLnBrk="0" fontAlgn="base" latinLnBrk="0" hangingPunct="0">
              <a:spcBef>
                <a:spcPct val="0"/>
              </a:spcBef>
              <a:spcAft>
                <a:spcPts val="600"/>
              </a:spcAft>
              <a:buClrTx/>
              <a:buSzTx/>
              <a:buFontTx/>
              <a:buNone/>
              <a:tabLst/>
            </a:pPr>
            <a:r>
              <a:rPr kumimoji="0" lang="en-US" altLang="en-US" sz="1700" b="0" i="0" u="none" strike="noStrike" cap="none" normalizeH="0" baseline="0">
                <a:ln>
                  <a:noFill/>
                </a:ln>
                <a:effectLst/>
                <a:latin typeface="Arial" panose="020B0604020202020204" pitchFamily="34" charset="0"/>
              </a:rPr>
              <a:t>     </a:t>
            </a:r>
            <a:r>
              <a:rPr kumimoji="0" lang="en-US" altLang="en-US" sz="1700" b="1" i="0" u="none" strike="noStrike" cap="none" normalizeH="0" baseline="0">
                <a:ln>
                  <a:noFill/>
                </a:ln>
                <a:effectLst/>
                <a:latin typeface="Arial" panose="020B0604020202020204" pitchFamily="34" charset="0"/>
              </a:rPr>
              <a:t>F1-Score:</a:t>
            </a:r>
            <a:r>
              <a:rPr kumimoji="0" lang="en-US" altLang="en-US" sz="1700" b="0" i="0" u="none" strike="noStrike" cap="none" normalizeH="0" baseline="0">
                <a:ln>
                  <a:noFill/>
                </a:ln>
                <a:effectLst/>
                <a:latin typeface="Arial" panose="020B0604020202020204" pitchFamily="34" charset="0"/>
              </a:rPr>
              <a:t> 0.9166.</a:t>
            </a:r>
          </a:p>
          <a:p>
            <a:pPr marL="0" marR="0" lvl="0" indent="0" defTabSz="914400" rtl="0" eaLnBrk="0" fontAlgn="base" latinLnBrk="0" hangingPunct="0">
              <a:spcBef>
                <a:spcPct val="0"/>
              </a:spcBef>
              <a:spcAft>
                <a:spcPts val="600"/>
              </a:spcAft>
              <a:buClrTx/>
              <a:buSzTx/>
              <a:buFontTx/>
              <a:buNone/>
              <a:tabLst/>
            </a:pPr>
            <a:r>
              <a:rPr kumimoji="0" lang="en-US" altLang="en-US" sz="1700" b="0" i="0" u="none" strike="noStrike" cap="none" normalizeH="0" baseline="0">
                <a:ln>
                  <a:noFill/>
                </a:ln>
                <a:effectLst/>
                <a:latin typeface="Arial" panose="020B0604020202020204" pitchFamily="34" charset="0"/>
              </a:rPr>
              <a:t>     </a:t>
            </a:r>
            <a:r>
              <a:rPr kumimoji="0" lang="en-US" altLang="en-US" sz="1700" b="1" i="0" u="none" strike="noStrike" cap="none" normalizeH="0" baseline="0" err="1">
                <a:ln>
                  <a:noFill/>
                </a:ln>
                <a:effectLst/>
                <a:latin typeface="Arial" panose="020B0604020202020204" pitchFamily="34" charset="0"/>
              </a:rPr>
              <a:t>Mejora</a:t>
            </a:r>
            <a:r>
              <a:rPr kumimoji="0" lang="en-US" altLang="en-US" sz="1700" b="1" i="0" u="none" strike="noStrike" cap="none" normalizeH="0" baseline="0">
                <a:ln>
                  <a:noFill/>
                </a:ln>
                <a:effectLst/>
                <a:latin typeface="Arial" panose="020B0604020202020204" pitchFamily="34" charset="0"/>
              </a:rPr>
              <a:t>:</a:t>
            </a:r>
            <a:r>
              <a:rPr kumimoji="0" lang="en-US" altLang="en-US" sz="1700" b="0" i="0" u="none" strike="noStrike" cap="none" normalizeH="0" baseline="0">
                <a:ln>
                  <a:noFill/>
                </a:ln>
                <a:effectLst/>
                <a:latin typeface="Arial" panose="020B0604020202020204" pitchFamily="34" charset="0"/>
              </a:rPr>
              <a:t> +10.02% </a:t>
            </a:r>
            <a:r>
              <a:rPr kumimoji="0" lang="en-US" altLang="en-US" sz="1700" b="0" i="0" u="none" strike="noStrike" cap="none" normalizeH="0" baseline="0" err="1">
                <a:ln>
                  <a:noFill/>
                </a:ln>
                <a:effectLst/>
                <a:latin typeface="Arial" panose="020B0604020202020204" pitchFamily="34" charset="0"/>
              </a:rPr>
              <a:t>respecto</a:t>
            </a:r>
            <a:r>
              <a:rPr kumimoji="0" lang="en-US" altLang="en-US" sz="1700" b="0" i="0" u="none" strike="noStrike" cap="none" normalizeH="0" baseline="0">
                <a:ln>
                  <a:noFill/>
                </a:ln>
                <a:effectLst/>
                <a:latin typeface="Arial" panose="020B0604020202020204" pitchFamily="34" charset="0"/>
              </a:rPr>
              <a:t> a la red </a:t>
            </a:r>
            <a:r>
              <a:rPr kumimoji="0" lang="en-US" altLang="en-US" sz="1700" b="0" i="0" u="none" strike="noStrike" cap="none" normalizeH="0" baseline="0" err="1">
                <a:ln>
                  <a:noFill/>
                </a:ln>
                <a:effectLst/>
                <a:latin typeface="Arial" panose="020B0604020202020204" pitchFamily="34" charset="0"/>
              </a:rPr>
              <a:t>competitiva</a:t>
            </a:r>
            <a:r>
              <a:rPr kumimoji="0" lang="en-US" altLang="en-US" sz="1700" b="0" i="0" u="none" strike="noStrike" cap="none" normalizeH="0" baseline="0">
                <a:ln>
                  <a:noFill/>
                </a:ln>
                <a:effectLst/>
                <a:latin typeface="Arial" panose="020B0604020202020204" pitchFamily="34" charset="0"/>
              </a:rPr>
              <a:t> </a:t>
            </a:r>
            <a:r>
              <a:rPr kumimoji="0" lang="en-US" altLang="en-US" sz="1700" b="0" i="0" u="none" strike="noStrike" cap="none" normalizeH="0" baseline="0" err="1">
                <a:ln>
                  <a:noFill/>
                </a:ln>
                <a:effectLst/>
                <a:latin typeface="Arial" panose="020B0604020202020204" pitchFamily="34" charset="0"/>
              </a:rPr>
              <a:t>estándar</a:t>
            </a:r>
            <a:r>
              <a:rPr kumimoji="0" lang="en-US" altLang="en-US" sz="1700" b="0" i="0" u="none" strike="noStrike" cap="none" normalizeH="0" baseline="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700" b="1" i="0" u="none" strike="noStrike" cap="none" normalizeH="0" baseline="0" err="1">
                <a:ln>
                  <a:noFill/>
                </a:ln>
                <a:effectLst/>
                <a:latin typeface="Arial" panose="020B0604020202020204" pitchFamily="34" charset="0"/>
              </a:rPr>
              <a:t>Comparativa</a:t>
            </a:r>
            <a:r>
              <a:rPr kumimoji="0" lang="en-US" altLang="en-US" sz="1700" b="1" i="0" u="none" strike="noStrike" cap="none" normalizeH="0" baseline="0">
                <a:ln>
                  <a:noFill/>
                </a:ln>
                <a:effectLst/>
                <a:latin typeface="Arial" panose="020B0604020202020204" pitchFamily="34" charset="0"/>
              </a:rPr>
              <a:t>:</a:t>
            </a:r>
            <a:r>
              <a:rPr kumimoji="0" lang="en-US" altLang="en-US" sz="1700" b="0" i="0" u="none" strike="noStrike" cap="none" normalizeH="0" baseline="0">
                <a:ln>
                  <a:noFill/>
                </a:ln>
                <a:effectLst/>
                <a:latin typeface="Arial" panose="020B0604020202020204" pitchFamily="34" charset="0"/>
              </a:rPr>
              <a:t> </a:t>
            </a:r>
            <a:r>
              <a:rPr kumimoji="0" lang="en-US" altLang="en-US" sz="1700" b="0" i="0" u="none" strike="noStrike" cap="none" normalizeH="0" baseline="0" err="1">
                <a:ln>
                  <a:noFill/>
                </a:ln>
                <a:effectLst/>
                <a:latin typeface="Arial" panose="020B0604020202020204" pitchFamily="34" charset="0"/>
              </a:rPr>
              <a:t>Superó</a:t>
            </a:r>
            <a:r>
              <a:rPr kumimoji="0" lang="en-US" altLang="en-US" sz="1700" b="0" i="0" u="none" strike="noStrike" cap="none" normalizeH="0" baseline="0">
                <a:ln>
                  <a:noFill/>
                </a:ln>
                <a:effectLst/>
                <a:latin typeface="Arial" panose="020B0604020202020204" pitchFamily="34" charset="0"/>
              </a:rPr>
              <a:t> </a:t>
            </a:r>
            <a:r>
              <a:rPr kumimoji="0" lang="en-US" altLang="en-US" sz="1700" b="0" i="0" u="none" strike="noStrike" cap="none" normalizeH="0" baseline="0" err="1">
                <a:ln>
                  <a:noFill/>
                </a:ln>
                <a:effectLst/>
                <a:latin typeface="Arial" panose="020B0604020202020204" pitchFamily="34" charset="0"/>
              </a:rPr>
              <a:t>significativamente</a:t>
            </a:r>
            <a:r>
              <a:rPr kumimoji="0" lang="en-US" altLang="en-US" sz="1700" b="0" i="0" u="none" strike="noStrike" cap="none" normalizeH="0" baseline="0">
                <a:ln>
                  <a:noFill/>
                </a:ln>
                <a:effectLst/>
                <a:latin typeface="Arial" panose="020B0604020202020204" pitchFamily="34" charset="0"/>
              </a:rPr>
              <a:t> a K-Means (F1: 0.46) y SOM (F1: 0.49).</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700" b="1" i="0" u="none" strike="noStrike" cap="none" normalizeH="0" baseline="0" err="1">
                <a:ln>
                  <a:noFill/>
                </a:ln>
                <a:effectLst/>
                <a:latin typeface="Arial" panose="020B0604020202020204" pitchFamily="34" charset="0"/>
              </a:rPr>
              <a:t>Desempeño</a:t>
            </a:r>
            <a:r>
              <a:rPr kumimoji="0" lang="en-US" altLang="en-US" sz="1700" b="1" i="0" u="none" strike="noStrike" cap="none" normalizeH="0" baseline="0">
                <a:ln>
                  <a:noFill/>
                </a:ln>
                <a:effectLst/>
                <a:latin typeface="Arial" panose="020B0604020202020204" pitchFamily="34" charset="0"/>
              </a:rPr>
              <a:t> </a:t>
            </a:r>
            <a:r>
              <a:rPr kumimoji="0" lang="en-US" altLang="en-US" sz="1700" b="1" i="0" u="none" strike="noStrike" cap="none" normalizeH="0" baseline="0" err="1">
                <a:ln>
                  <a:noFill/>
                </a:ln>
                <a:effectLst/>
                <a:latin typeface="Arial" panose="020B0604020202020204" pitchFamily="34" charset="0"/>
              </a:rPr>
              <a:t>por</a:t>
            </a:r>
            <a:r>
              <a:rPr kumimoji="0" lang="en-US" altLang="en-US" sz="1700" b="1" i="0" u="none" strike="noStrike" cap="none" normalizeH="0" baseline="0">
                <a:ln>
                  <a:noFill/>
                </a:ln>
                <a:effectLst/>
                <a:latin typeface="Arial" panose="020B0604020202020204" pitchFamily="34" charset="0"/>
              </a:rPr>
              <a:t> Clase:</a:t>
            </a:r>
            <a:r>
              <a:rPr kumimoji="0" lang="en-US" altLang="en-US" sz="1700" b="0" i="0" u="none" strike="noStrike" cap="none" normalizeH="0" baseline="0">
                <a:ln>
                  <a:noFill/>
                </a:ln>
                <a:effectLst/>
                <a:latin typeface="Arial" panose="020B0604020202020204" pitchFamily="34" charset="0"/>
              </a:rPr>
              <a:t> Recall del 100% </a:t>
            </a:r>
            <a:r>
              <a:rPr kumimoji="0" lang="en-US" altLang="en-US" sz="1700" b="0" i="0" u="none" strike="noStrike" cap="none" normalizeH="0" baseline="0" err="1">
                <a:ln>
                  <a:noFill/>
                </a:ln>
                <a:effectLst/>
                <a:latin typeface="Arial" panose="020B0604020202020204" pitchFamily="34" charset="0"/>
              </a:rPr>
              <a:t>en</a:t>
            </a:r>
            <a:r>
              <a:rPr kumimoji="0" lang="en-US" altLang="en-US" sz="1700" b="0" i="0" u="none" strike="noStrike" cap="none" normalizeH="0" baseline="0">
                <a:ln>
                  <a:noFill/>
                </a:ln>
                <a:effectLst/>
                <a:latin typeface="Arial" panose="020B0604020202020204" pitchFamily="34" charset="0"/>
              </a:rPr>
              <a:t> la </a:t>
            </a:r>
            <a:r>
              <a:rPr kumimoji="0" lang="en-US" altLang="en-US" sz="1700" b="0" i="0" u="none" strike="noStrike" cap="none" normalizeH="0" baseline="0" err="1">
                <a:ln>
                  <a:noFill/>
                </a:ln>
                <a:effectLst/>
                <a:latin typeface="Arial" panose="020B0604020202020204" pitchFamily="34" charset="0"/>
              </a:rPr>
              <a:t>clase</a:t>
            </a:r>
            <a:r>
              <a:rPr kumimoji="0" lang="en-US" altLang="en-US" sz="1700" b="0" i="0" u="none" strike="noStrike" cap="none" normalizeH="0" baseline="0">
                <a:ln>
                  <a:noFill/>
                </a:ln>
                <a:effectLst/>
                <a:latin typeface="Arial" panose="020B0604020202020204" pitchFamily="34" charset="0"/>
              </a:rPr>
              <a:t> "</a:t>
            </a:r>
            <a:r>
              <a:rPr kumimoji="0" lang="en-US" altLang="en-US" sz="1700" b="0" i="0" u="none" strike="noStrike" cap="none" normalizeH="0" baseline="0" err="1">
                <a:ln>
                  <a:noFill/>
                </a:ln>
                <a:effectLst/>
                <a:latin typeface="Arial" panose="020B0604020202020204" pitchFamily="34" charset="0"/>
              </a:rPr>
              <a:t>Conservador</a:t>
            </a:r>
            <a:r>
              <a:rPr kumimoji="0" lang="en-US" altLang="en-US" sz="1700" b="0" i="0" u="none" strike="noStrike" cap="none" normalizeH="0" baseline="0">
                <a:ln>
                  <a:noFill/>
                </a:ln>
                <a:effectLst/>
                <a:latin typeface="Arial" panose="020B0604020202020204" pitchFamily="34" charset="0"/>
              </a:rPr>
              <a:t>" (</a:t>
            </a:r>
            <a:r>
              <a:rPr kumimoji="0" lang="en-US" altLang="en-US" sz="1700" b="0" i="0" u="none" strike="noStrike" cap="none" normalizeH="0" baseline="0" err="1">
                <a:ln>
                  <a:noFill/>
                </a:ln>
                <a:effectLst/>
                <a:latin typeface="Arial" panose="020B0604020202020204" pitchFamily="34" charset="0"/>
              </a:rPr>
              <a:t>crítico</a:t>
            </a:r>
            <a:r>
              <a:rPr kumimoji="0" lang="en-US" altLang="en-US" sz="1700" b="0" i="0" u="none" strike="noStrike" cap="none" normalizeH="0" baseline="0">
                <a:ln>
                  <a:noFill/>
                </a:ln>
                <a:effectLst/>
                <a:latin typeface="Arial" panose="020B0604020202020204" pitchFamily="34" charset="0"/>
              </a:rPr>
              <a:t> para </a:t>
            </a:r>
            <a:r>
              <a:rPr kumimoji="0" lang="en-US" altLang="en-US" sz="1700" b="0" i="0" u="none" strike="noStrike" cap="none" normalizeH="0" baseline="0" err="1">
                <a:ln>
                  <a:noFill/>
                </a:ln>
                <a:effectLst/>
                <a:latin typeface="Arial" panose="020B0604020202020204" pitchFamily="34" charset="0"/>
              </a:rPr>
              <a:t>seguridad</a:t>
            </a:r>
            <a:r>
              <a:rPr kumimoji="0" lang="en-US" altLang="en-US" sz="1700" b="0" i="0" u="none" strike="noStrike" cap="none" normalizeH="0" baseline="0">
                <a:ln>
                  <a:noFill/>
                </a:ln>
                <a:effectLst/>
                <a:latin typeface="Arial" panose="020B0604020202020204" pitchFamily="34" charset="0"/>
              </a:rPr>
              <a:t> </a:t>
            </a:r>
            <a:r>
              <a:rPr kumimoji="0" lang="en-US" altLang="en-US" sz="1700" b="0" i="0" u="none" strike="noStrike" cap="none" normalizeH="0" baseline="0" err="1">
                <a:ln>
                  <a:noFill/>
                </a:ln>
                <a:effectLst/>
                <a:latin typeface="Arial" panose="020B0604020202020204" pitchFamily="34" charset="0"/>
              </a:rPr>
              <a:t>financiera</a:t>
            </a:r>
            <a:r>
              <a:rPr kumimoji="0" lang="en-US" altLang="en-US" sz="1700" b="0" i="0" u="none" strike="noStrike" cap="none" normalizeH="0" baseline="0">
                <a:ln>
                  <a:noFill/>
                </a:ln>
                <a:effectLst/>
                <a:latin typeface="Arial" panose="020B0604020202020204" pitchFamily="34" charset="0"/>
              </a:rPr>
              <a:t>).</a:t>
            </a:r>
          </a:p>
        </p:txBody>
      </p:sp>
    </p:spTree>
    <p:extLst>
      <p:ext uri="{BB962C8B-B14F-4D97-AF65-F5344CB8AC3E}">
        <p14:creationId xmlns:p14="http://schemas.microsoft.com/office/powerpoint/2010/main" val="2703619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1B917C-FD52-6541-C929-2F0B5D4F4576}"/>
              </a:ext>
            </a:extLst>
          </p:cNvPr>
          <p:cNvSpPr>
            <a:spLocks noGrp="1"/>
          </p:cNvSpPr>
          <p:nvPr>
            <p:ph type="title"/>
          </p:nvPr>
        </p:nvSpPr>
        <p:spPr>
          <a:xfrm>
            <a:off x="521208" y="978408"/>
            <a:ext cx="11155680" cy="1115568"/>
          </a:xfrm>
        </p:spPr>
        <p:txBody>
          <a:bodyPr>
            <a:normAutofit/>
          </a:bodyPr>
          <a:lstStyle/>
          <a:p>
            <a:r>
              <a:rPr lang="es-ES"/>
              <a:t>Métricas por Clase del Mejor Modelo</a:t>
            </a:r>
            <a:endParaRPr lang="en-US"/>
          </a:p>
        </p:txBody>
      </p:sp>
      <p:sp>
        <p:nvSpPr>
          <p:cNvPr id="15" name="Freeform: Shape 14">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663329F9-B20A-D55E-ED64-2E3F44986D8E}"/>
              </a:ext>
            </a:extLst>
          </p:cNvPr>
          <p:cNvPicPr>
            <a:picLocks noChangeAspect="1"/>
          </p:cNvPicPr>
          <p:nvPr/>
        </p:nvPicPr>
        <p:blipFill>
          <a:blip r:embed="rId3"/>
          <a:stretch>
            <a:fillRect/>
          </a:stretch>
        </p:blipFill>
        <p:spPr>
          <a:xfrm>
            <a:off x="515112" y="3072384"/>
            <a:ext cx="5639091" cy="1611169"/>
          </a:xfrm>
          <a:prstGeom prst="rect">
            <a:avLst/>
          </a:prstGeom>
        </p:spPr>
      </p:pic>
      <p:sp>
        <p:nvSpPr>
          <p:cNvPr id="3" name="Content Placeholder 2">
            <a:extLst>
              <a:ext uri="{FF2B5EF4-FFF2-40B4-BE49-F238E27FC236}">
                <a16:creationId xmlns:a16="http://schemas.microsoft.com/office/drawing/2014/main" id="{E95ABEF3-5302-895E-96B2-37C2F94A2B0D}"/>
              </a:ext>
            </a:extLst>
          </p:cNvPr>
          <p:cNvSpPr>
            <a:spLocks noGrp="1"/>
          </p:cNvSpPr>
          <p:nvPr>
            <p:ph idx="1"/>
          </p:nvPr>
        </p:nvSpPr>
        <p:spPr>
          <a:xfrm>
            <a:off x="6547104" y="2304288"/>
            <a:ext cx="5129784" cy="4050792"/>
          </a:xfrm>
        </p:spPr>
        <p:txBody>
          <a:bodyPr>
            <a:normAutofit/>
          </a:bodyPr>
          <a:lstStyle/>
          <a:p>
            <a:r>
              <a:rPr lang="es-ES"/>
              <a:t>El modelo logra un recall perfecto (100%) para la clase Conservador, lo cual es crítico desde una perspectiva de gestión de riesgos, ya que garantiza que todos los activos verdaderamente conservadores sean identificados correctamente. La clase Muy Arriesgado alcanza una precision perfecta (100%), evitando clasificar erróneamente activos como de alto riesgo</a:t>
            </a:r>
            <a:endParaRPr lang="en-US"/>
          </a:p>
        </p:txBody>
      </p:sp>
    </p:spTree>
    <p:extLst>
      <p:ext uri="{BB962C8B-B14F-4D97-AF65-F5344CB8AC3E}">
        <p14:creationId xmlns:p14="http://schemas.microsoft.com/office/powerpoint/2010/main" val="3204733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823A62-9670-FDC3-D094-AF3FFE93BF80}"/>
              </a:ext>
            </a:extLst>
          </p:cNvPr>
          <p:cNvSpPr>
            <a:spLocks noGrp="1"/>
          </p:cNvSpPr>
          <p:nvPr>
            <p:ph type="title"/>
          </p:nvPr>
        </p:nvSpPr>
        <p:spPr>
          <a:xfrm>
            <a:off x="521208" y="978408"/>
            <a:ext cx="11155680" cy="1463040"/>
          </a:xfrm>
        </p:spPr>
        <p:txBody>
          <a:bodyPr>
            <a:normAutofit/>
          </a:bodyPr>
          <a:lstStyle/>
          <a:p>
            <a:r>
              <a:rPr lang="es-ES" dirty="0"/>
              <a:t>Clasificación en el Espacio Riesgo-Retorno</a:t>
            </a:r>
            <a:endParaRPr lang="en-US" dirty="0"/>
          </a:p>
        </p:txBody>
      </p:sp>
      <p:sp>
        <p:nvSpPr>
          <p:cNvPr id="14" name="Freeform: Shape 13">
            <a:extLst>
              <a:ext uri="{FF2B5EF4-FFF2-40B4-BE49-F238E27FC236}">
                <a16:creationId xmlns:a16="http://schemas.microsoft.com/office/drawing/2014/main" id="{F6C8F56F-DFA1-4C0D-A403-803478FC2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858D8075-F206-7D97-ACEC-388213807E54}"/>
              </a:ext>
            </a:extLst>
          </p:cNvPr>
          <p:cNvPicPr>
            <a:picLocks noChangeAspect="1"/>
          </p:cNvPicPr>
          <p:nvPr/>
        </p:nvPicPr>
        <p:blipFill>
          <a:blip r:embed="rId2"/>
          <a:stretch>
            <a:fillRect/>
          </a:stretch>
        </p:blipFill>
        <p:spPr>
          <a:xfrm>
            <a:off x="3600671" y="2678488"/>
            <a:ext cx="2852485" cy="2893351"/>
          </a:xfrm>
          <a:prstGeom prst="rect">
            <a:avLst/>
          </a:prstGeom>
        </p:spPr>
      </p:pic>
      <p:pic>
        <p:nvPicPr>
          <p:cNvPr id="5" name="Picture 4">
            <a:extLst>
              <a:ext uri="{FF2B5EF4-FFF2-40B4-BE49-F238E27FC236}">
                <a16:creationId xmlns:a16="http://schemas.microsoft.com/office/drawing/2014/main" id="{7941C4D3-CCDF-2F74-DFCA-4DF7C37014B2}"/>
              </a:ext>
            </a:extLst>
          </p:cNvPr>
          <p:cNvPicPr>
            <a:picLocks noChangeAspect="1"/>
          </p:cNvPicPr>
          <p:nvPr/>
        </p:nvPicPr>
        <p:blipFill>
          <a:blip r:embed="rId3"/>
          <a:stretch>
            <a:fillRect/>
          </a:stretch>
        </p:blipFill>
        <p:spPr>
          <a:xfrm>
            <a:off x="498791" y="2678488"/>
            <a:ext cx="2852485" cy="2674205"/>
          </a:xfrm>
          <a:prstGeom prst="rect">
            <a:avLst/>
          </a:prstGeom>
        </p:spPr>
      </p:pic>
      <p:sp>
        <p:nvSpPr>
          <p:cNvPr id="3" name="Content Placeholder 2">
            <a:extLst>
              <a:ext uri="{FF2B5EF4-FFF2-40B4-BE49-F238E27FC236}">
                <a16:creationId xmlns:a16="http://schemas.microsoft.com/office/drawing/2014/main" id="{BF0B26B8-6F98-C495-EEE4-4C41A828E25C}"/>
              </a:ext>
            </a:extLst>
          </p:cNvPr>
          <p:cNvSpPr>
            <a:spLocks noGrp="1"/>
          </p:cNvSpPr>
          <p:nvPr>
            <p:ph idx="1"/>
          </p:nvPr>
        </p:nvSpPr>
        <p:spPr>
          <a:xfrm>
            <a:off x="6702552" y="2578608"/>
            <a:ext cx="4965192" cy="3767328"/>
          </a:xfrm>
        </p:spPr>
        <p:txBody>
          <a:bodyPr>
            <a:normAutofit/>
          </a:bodyPr>
          <a:lstStyle/>
          <a:p>
            <a:r>
              <a:rPr lang="es-ES" dirty="0"/>
              <a:t>(Izquierda) Clasificación de activos en el espacio volatilidad-retorno, con los activos seleccionados marcados con estrellas. (Derecha) Frontera eficiente con la ubicación de los portafolios óptimos Markowitz y PSO.</a:t>
            </a:r>
            <a:endParaRPr lang="en-US" dirty="0"/>
          </a:p>
        </p:txBody>
      </p:sp>
    </p:spTree>
    <p:extLst>
      <p:ext uri="{BB962C8B-B14F-4D97-AF65-F5344CB8AC3E}">
        <p14:creationId xmlns:p14="http://schemas.microsoft.com/office/powerpoint/2010/main" val="4135608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2EF6F8F-597F-716E-5B22-76DC90B3E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85F1FA3-9689-2123-D8AA-DB8CB13F3A71}"/>
              </a:ext>
            </a:extLst>
          </p:cNvPr>
          <p:cNvSpPr>
            <a:spLocks noGrp="1"/>
          </p:cNvSpPr>
          <p:nvPr>
            <p:ph type="title"/>
          </p:nvPr>
        </p:nvSpPr>
        <p:spPr>
          <a:xfrm>
            <a:off x="521208" y="978408"/>
            <a:ext cx="4032504" cy="2743200"/>
          </a:xfrm>
        </p:spPr>
        <p:txBody>
          <a:bodyPr>
            <a:normAutofit/>
          </a:bodyPr>
          <a:lstStyle/>
          <a:p>
            <a:pPr>
              <a:lnSpc>
                <a:spcPct val="90000"/>
              </a:lnSpc>
            </a:pPr>
            <a:r>
              <a:rPr lang="es-ES" dirty="0"/>
              <a:t>Selección de Activos y Configuración del Portafolio</a:t>
            </a:r>
            <a:endParaRPr lang="en-US"/>
          </a:p>
        </p:txBody>
      </p:sp>
      <p:sp>
        <p:nvSpPr>
          <p:cNvPr id="16" name="Freeform: Shape 15">
            <a:extLst>
              <a:ext uri="{FF2B5EF4-FFF2-40B4-BE49-F238E27FC236}">
                <a16:creationId xmlns:a16="http://schemas.microsoft.com/office/drawing/2014/main" id="{2AC934FA-18DC-F7A3-0EA7-05EDF7A32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A9477A7-7923-5BA8-0317-31B07D7432FB}"/>
              </a:ext>
            </a:extLst>
          </p:cNvPr>
          <p:cNvSpPr>
            <a:spLocks noGrp="1"/>
          </p:cNvSpPr>
          <p:nvPr>
            <p:ph idx="1"/>
          </p:nvPr>
        </p:nvSpPr>
        <p:spPr>
          <a:xfrm>
            <a:off x="5065776" y="978408"/>
            <a:ext cx="6601968" cy="2743200"/>
          </a:xfrm>
        </p:spPr>
        <p:txBody>
          <a:bodyPr>
            <a:normAutofit/>
          </a:bodyPr>
          <a:lstStyle/>
          <a:p>
            <a:r>
              <a:rPr lang="es-ES" dirty="0"/>
              <a:t>Basado en el </a:t>
            </a:r>
            <a:r>
              <a:rPr lang="es-ES" dirty="0" err="1"/>
              <a:t>clustering</a:t>
            </a:r>
            <a:r>
              <a:rPr lang="es-ES" dirty="0"/>
              <a:t> óptimo, se seleccionaron los 2 activos con mejor ratio de Sharpe del </a:t>
            </a:r>
            <a:r>
              <a:rPr lang="es-ES" dirty="0" err="1"/>
              <a:t>cluster</a:t>
            </a:r>
            <a:r>
              <a:rPr lang="es-ES" dirty="0"/>
              <a:t> conservador:</a:t>
            </a:r>
          </a:p>
          <a:p>
            <a:r>
              <a:rPr lang="es-ES" dirty="0"/>
              <a:t>Ambos métodos convergen a la misma solución óptima, validando la robustez del enfoque. El portafolio óptimo asigna aproximadamente 61% a CHDRAUIB.MX y 39% a AC.MX, logrando un Sharpe Ratio de 1.0953.</a:t>
            </a:r>
          </a:p>
        </p:txBody>
      </p:sp>
      <p:pic>
        <p:nvPicPr>
          <p:cNvPr id="9" name="Picture 8">
            <a:extLst>
              <a:ext uri="{FF2B5EF4-FFF2-40B4-BE49-F238E27FC236}">
                <a16:creationId xmlns:a16="http://schemas.microsoft.com/office/drawing/2014/main" id="{2A8431A5-713C-D00C-22A7-991CD4F8A83A}"/>
              </a:ext>
            </a:extLst>
          </p:cNvPr>
          <p:cNvPicPr>
            <a:picLocks noChangeAspect="1"/>
          </p:cNvPicPr>
          <p:nvPr/>
        </p:nvPicPr>
        <p:blipFill>
          <a:blip r:embed="rId3"/>
          <a:stretch>
            <a:fillRect/>
          </a:stretch>
        </p:blipFill>
        <p:spPr>
          <a:xfrm>
            <a:off x="4770882" y="3243581"/>
            <a:ext cx="6944868" cy="3455072"/>
          </a:xfrm>
          <a:prstGeom prst="rect">
            <a:avLst/>
          </a:prstGeom>
        </p:spPr>
      </p:pic>
      <p:pic>
        <p:nvPicPr>
          <p:cNvPr id="5" name="Picture 4">
            <a:extLst>
              <a:ext uri="{FF2B5EF4-FFF2-40B4-BE49-F238E27FC236}">
                <a16:creationId xmlns:a16="http://schemas.microsoft.com/office/drawing/2014/main" id="{6696B630-4A9E-7A60-2F7C-C3CF847608A3}"/>
              </a:ext>
            </a:extLst>
          </p:cNvPr>
          <p:cNvPicPr>
            <a:picLocks noChangeAspect="1"/>
          </p:cNvPicPr>
          <p:nvPr/>
        </p:nvPicPr>
        <p:blipFill>
          <a:blip r:embed="rId4"/>
          <a:stretch>
            <a:fillRect/>
          </a:stretch>
        </p:blipFill>
        <p:spPr>
          <a:xfrm>
            <a:off x="777240" y="4032902"/>
            <a:ext cx="3520440" cy="765313"/>
          </a:xfrm>
          <a:prstGeom prst="rect">
            <a:avLst/>
          </a:prstGeom>
        </p:spPr>
      </p:pic>
      <p:pic>
        <p:nvPicPr>
          <p:cNvPr id="7" name="Picture 6">
            <a:extLst>
              <a:ext uri="{FF2B5EF4-FFF2-40B4-BE49-F238E27FC236}">
                <a16:creationId xmlns:a16="http://schemas.microsoft.com/office/drawing/2014/main" id="{3ACF1E56-A89C-65E7-F4BF-70E99206CD2D}"/>
              </a:ext>
            </a:extLst>
          </p:cNvPr>
          <p:cNvPicPr>
            <a:picLocks noChangeAspect="1"/>
          </p:cNvPicPr>
          <p:nvPr/>
        </p:nvPicPr>
        <p:blipFill>
          <a:blip r:embed="rId5"/>
          <a:stretch>
            <a:fillRect/>
          </a:stretch>
        </p:blipFill>
        <p:spPr>
          <a:xfrm>
            <a:off x="777240" y="5220829"/>
            <a:ext cx="3520440" cy="607276"/>
          </a:xfrm>
          <a:prstGeom prst="rect">
            <a:avLst/>
          </a:prstGeom>
        </p:spPr>
      </p:pic>
    </p:spTree>
    <p:extLst>
      <p:ext uri="{BB962C8B-B14F-4D97-AF65-F5344CB8AC3E}">
        <p14:creationId xmlns:p14="http://schemas.microsoft.com/office/powerpoint/2010/main" val="3217368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D03ABF-D1D2-94F2-B60E-8E7C312B6F0F}"/>
              </a:ext>
            </a:extLst>
          </p:cNvPr>
          <p:cNvSpPr>
            <a:spLocks noGrp="1"/>
          </p:cNvSpPr>
          <p:nvPr>
            <p:ph type="title"/>
          </p:nvPr>
        </p:nvSpPr>
        <p:spPr>
          <a:xfrm>
            <a:off x="521208" y="978408"/>
            <a:ext cx="6263640" cy="1463040"/>
          </a:xfrm>
        </p:spPr>
        <p:txBody>
          <a:bodyPr>
            <a:normAutofit/>
          </a:bodyPr>
          <a:lstStyle/>
          <a:p>
            <a:r>
              <a:rPr lang="en-US" dirty="0" err="1"/>
              <a:t>Comparación</a:t>
            </a:r>
            <a:r>
              <a:rPr lang="en-US" dirty="0"/>
              <a:t> de </a:t>
            </a:r>
            <a:r>
              <a:rPr lang="en-US" dirty="0" err="1"/>
              <a:t>Modelos</a:t>
            </a:r>
            <a:r>
              <a:rPr lang="en-US" dirty="0"/>
              <a:t> </a:t>
            </a:r>
            <a:r>
              <a:rPr lang="en-US" dirty="0" err="1"/>
              <a:t>Predictivos</a:t>
            </a:r>
            <a:endParaRPr lang="en-US" dirty="0"/>
          </a:p>
        </p:txBody>
      </p:sp>
      <p:sp>
        <p:nvSpPr>
          <p:cNvPr id="25" name="Freeform: Shape 24">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ontent Placeholder 6">
            <a:extLst>
              <a:ext uri="{FF2B5EF4-FFF2-40B4-BE49-F238E27FC236}">
                <a16:creationId xmlns:a16="http://schemas.microsoft.com/office/drawing/2014/main" id="{4FEE2BDF-FF0C-F00F-6F2D-3778BFF5C141}"/>
              </a:ext>
            </a:extLst>
          </p:cNvPr>
          <p:cNvSpPr>
            <a:spLocks noGrp="1"/>
          </p:cNvSpPr>
          <p:nvPr>
            <p:ph idx="1"/>
          </p:nvPr>
        </p:nvSpPr>
        <p:spPr>
          <a:xfrm>
            <a:off x="521208" y="2578608"/>
            <a:ext cx="6263640" cy="3767328"/>
          </a:xfrm>
        </p:spPr>
        <p:txBody>
          <a:bodyPr>
            <a:normAutofit/>
          </a:bodyPr>
          <a:lstStyle/>
          <a:p>
            <a:r>
              <a:rPr lang="es-ES" dirty="0"/>
              <a:t>Observaciones clave: </a:t>
            </a:r>
          </a:p>
          <a:p>
            <a:pPr marL="0" indent="0">
              <a:buNone/>
            </a:pPr>
            <a:r>
              <a:rPr lang="es-ES" dirty="0"/>
              <a:t>El modelo ADALINE logra el mejor desempeño entre los modelos neuronales, con R2 &gt; 0.89 para ambos activos.</a:t>
            </a:r>
          </a:p>
          <a:p>
            <a:pPr marL="0" indent="0">
              <a:buNone/>
            </a:pPr>
            <a:r>
              <a:rPr lang="es-ES" dirty="0"/>
              <a:t>El MLP presenta sobreajuste severo para AC.MX (R2 = −1.18), indicando que la arquitectura es demasiado compleja para este activo. </a:t>
            </a:r>
          </a:p>
          <a:p>
            <a:pPr marL="0" indent="0">
              <a:buNone/>
            </a:pPr>
            <a:r>
              <a:rPr lang="es-ES" dirty="0"/>
              <a:t>El LSTM, a pesar de su mayor complejidad, no supera al ADALINE lineal.  </a:t>
            </a:r>
          </a:p>
          <a:p>
            <a:pPr marL="0" indent="0">
              <a:buNone/>
            </a:pPr>
            <a:r>
              <a:rPr lang="es-ES" dirty="0"/>
              <a:t>Los </a:t>
            </a:r>
            <a:r>
              <a:rPr lang="es-ES" dirty="0" err="1"/>
              <a:t>baselines</a:t>
            </a:r>
            <a:r>
              <a:rPr lang="es-ES" dirty="0"/>
              <a:t> (RW y MA) son difíciles de superar, confirmando la hipótesis de eficiencia débil del mercado. </a:t>
            </a:r>
            <a:endParaRPr lang="en-US" dirty="0"/>
          </a:p>
        </p:txBody>
      </p:sp>
      <p:pic>
        <p:nvPicPr>
          <p:cNvPr id="11" name="Picture 10">
            <a:extLst>
              <a:ext uri="{FF2B5EF4-FFF2-40B4-BE49-F238E27FC236}">
                <a16:creationId xmlns:a16="http://schemas.microsoft.com/office/drawing/2014/main" id="{9C5AB22D-72DB-C895-16D3-13734CA53909}"/>
              </a:ext>
            </a:extLst>
          </p:cNvPr>
          <p:cNvPicPr>
            <a:picLocks noChangeAspect="1"/>
          </p:cNvPicPr>
          <p:nvPr/>
        </p:nvPicPr>
        <p:blipFill>
          <a:blip r:embed="rId3"/>
          <a:srcRect r="678"/>
          <a:stretch>
            <a:fillRect/>
          </a:stretch>
        </p:blipFill>
        <p:spPr>
          <a:xfrm>
            <a:off x="7070518" y="1515852"/>
            <a:ext cx="4364590" cy="4483660"/>
          </a:xfrm>
          <a:prstGeom prst="rect">
            <a:avLst/>
          </a:prstGeom>
        </p:spPr>
      </p:pic>
    </p:spTree>
    <p:extLst>
      <p:ext uri="{BB962C8B-B14F-4D97-AF65-F5344CB8AC3E}">
        <p14:creationId xmlns:p14="http://schemas.microsoft.com/office/powerpoint/2010/main" val="3873196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40AAEA-EAE4-1146-B9DC-2796AD45008C}"/>
              </a:ext>
            </a:extLst>
          </p:cNvPr>
          <p:cNvSpPr>
            <a:spLocks noGrp="1"/>
          </p:cNvSpPr>
          <p:nvPr>
            <p:ph type="title"/>
          </p:nvPr>
        </p:nvSpPr>
        <p:spPr>
          <a:xfrm>
            <a:off x="521208" y="978408"/>
            <a:ext cx="11155680" cy="1115568"/>
          </a:xfrm>
        </p:spPr>
        <p:txBody>
          <a:bodyPr>
            <a:normAutofit/>
          </a:bodyPr>
          <a:lstStyle/>
          <a:p>
            <a:r>
              <a:rPr lang="en-US" dirty="0" err="1"/>
              <a:t>Comparación</a:t>
            </a:r>
            <a:r>
              <a:rPr lang="en-US" dirty="0"/>
              <a:t> de </a:t>
            </a:r>
            <a:r>
              <a:rPr lang="en-US" dirty="0" err="1"/>
              <a:t>Modelos</a:t>
            </a:r>
            <a:r>
              <a:rPr lang="en-US" dirty="0"/>
              <a:t> </a:t>
            </a:r>
            <a:r>
              <a:rPr lang="en-US" dirty="0" err="1"/>
              <a:t>Predictivos</a:t>
            </a:r>
            <a:endParaRPr lang="en-US" dirty="0"/>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4">
            <a:extLst>
              <a:ext uri="{FF2B5EF4-FFF2-40B4-BE49-F238E27FC236}">
                <a16:creationId xmlns:a16="http://schemas.microsoft.com/office/drawing/2014/main" id="{FE4B44C0-AB6D-5778-BEC1-21C8ED5F03F7}"/>
              </a:ext>
            </a:extLst>
          </p:cNvPr>
          <p:cNvPicPr>
            <a:picLocks noChangeAspect="1"/>
          </p:cNvPicPr>
          <p:nvPr/>
        </p:nvPicPr>
        <p:blipFill>
          <a:blip r:embed="rId2"/>
          <a:stretch>
            <a:fillRect/>
          </a:stretch>
        </p:blipFill>
        <p:spPr>
          <a:xfrm>
            <a:off x="168285" y="2415015"/>
            <a:ext cx="6483238" cy="3128162"/>
          </a:xfrm>
          <a:prstGeom prst="rect">
            <a:avLst/>
          </a:prstGeom>
        </p:spPr>
      </p:pic>
      <p:sp>
        <p:nvSpPr>
          <p:cNvPr id="6" name="Content Placeholder 5">
            <a:extLst>
              <a:ext uri="{FF2B5EF4-FFF2-40B4-BE49-F238E27FC236}">
                <a16:creationId xmlns:a16="http://schemas.microsoft.com/office/drawing/2014/main" id="{82F9063B-7783-6562-43A5-AAF3F6F68978}"/>
              </a:ext>
            </a:extLst>
          </p:cNvPr>
          <p:cNvSpPr>
            <a:spLocks noGrp="1"/>
          </p:cNvSpPr>
          <p:nvPr>
            <p:ph idx="1"/>
          </p:nvPr>
        </p:nvSpPr>
        <p:spPr>
          <a:xfrm>
            <a:off x="6547104" y="2304288"/>
            <a:ext cx="5129784" cy="4050792"/>
          </a:xfrm>
        </p:spPr>
        <p:txBody>
          <a:bodyPr>
            <a:normAutofit/>
          </a:bodyPr>
          <a:lstStyle/>
          <a:p>
            <a:r>
              <a:rPr lang="es-ES" dirty="0"/>
              <a:t>Predicciones vs valores reales para los tres modelos neuronales. Fila superior: CHDRAUIB.MX; Fila inferior: AC.MX. Se observa que ADALINE y LSTM siguen bien la tendencia, mientras que MLP presenta desviaciones significativas.</a:t>
            </a:r>
            <a:endParaRPr lang="en-US" dirty="0"/>
          </a:p>
        </p:txBody>
      </p:sp>
    </p:spTree>
    <p:extLst>
      <p:ext uri="{BB962C8B-B14F-4D97-AF65-F5344CB8AC3E}">
        <p14:creationId xmlns:p14="http://schemas.microsoft.com/office/powerpoint/2010/main" val="3097641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0B21E3F-79FE-A6E6-B649-FA368BAB75B3}"/>
              </a:ext>
            </a:extLst>
          </p:cNvPr>
          <p:cNvSpPr>
            <a:spLocks noGrp="1"/>
          </p:cNvSpPr>
          <p:nvPr>
            <p:ph type="title"/>
          </p:nvPr>
        </p:nvSpPr>
        <p:spPr>
          <a:xfrm>
            <a:off x="521208" y="978408"/>
            <a:ext cx="11155680" cy="1115568"/>
          </a:xfrm>
        </p:spPr>
        <p:txBody>
          <a:bodyPr>
            <a:normAutofit/>
          </a:bodyPr>
          <a:lstStyle/>
          <a:p>
            <a:r>
              <a:rPr lang="en-US" dirty="0" err="1"/>
              <a:t>Resumen</a:t>
            </a:r>
            <a:r>
              <a:rPr lang="en-US" dirty="0"/>
              <a:t> de </a:t>
            </a:r>
            <a:r>
              <a:rPr lang="en-US" dirty="0" err="1"/>
              <a:t>Resultados</a:t>
            </a:r>
            <a:r>
              <a:rPr lang="en-US" dirty="0"/>
              <a:t> y </a:t>
            </a:r>
            <a:r>
              <a:rPr lang="en-US" dirty="0" err="1"/>
              <a:t>Conclusiones</a:t>
            </a:r>
            <a:r>
              <a:rPr lang="en-US" dirty="0"/>
              <a:t> </a:t>
            </a:r>
          </a:p>
        </p:txBody>
      </p:sp>
      <p:sp>
        <p:nvSpPr>
          <p:cNvPr id="20" name="Freeform: Shape 19">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3" name="Picture 12">
            <a:extLst>
              <a:ext uri="{FF2B5EF4-FFF2-40B4-BE49-F238E27FC236}">
                <a16:creationId xmlns:a16="http://schemas.microsoft.com/office/drawing/2014/main" id="{503DB330-4DED-8312-AE22-2F3C2F4A2995}"/>
              </a:ext>
            </a:extLst>
          </p:cNvPr>
          <p:cNvPicPr>
            <a:picLocks noChangeAspect="1"/>
          </p:cNvPicPr>
          <p:nvPr/>
        </p:nvPicPr>
        <p:blipFill>
          <a:blip r:embed="rId3"/>
          <a:stretch>
            <a:fillRect/>
          </a:stretch>
        </p:blipFill>
        <p:spPr>
          <a:xfrm>
            <a:off x="515112" y="2533690"/>
            <a:ext cx="5639091" cy="3073304"/>
          </a:xfrm>
          <a:prstGeom prst="rect">
            <a:avLst/>
          </a:prstGeom>
        </p:spPr>
      </p:pic>
      <p:sp>
        <p:nvSpPr>
          <p:cNvPr id="11" name="Content Placeholder 10">
            <a:extLst>
              <a:ext uri="{FF2B5EF4-FFF2-40B4-BE49-F238E27FC236}">
                <a16:creationId xmlns:a16="http://schemas.microsoft.com/office/drawing/2014/main" id="{C87D34E7-BEBA-0AAC-09CD-B3D173BE48F2}"/>
              </a:ext>
            </a:extLst>
          </p:cNvPr>
          <p:cNvSpPr>
            <a:spLocks noGrp="1"/>
          </p:cNvSpPr>
          <p:nvPr>
            <p:ph idx="1"/>
          </p:nvPr>
        </p:nvSpPr>
        <p:spPr>
          <a:xfrm>
            <a:off x="6547104" y="2304288"/>
            <a:ext cx="5129784" cy="4050792"/>
          </a:xfrm>
        </p:spPr>
        <p:txBody>
          <a:bodyPr>
            <a:normAutofit/>
          </a:bodyPr>
          <a:lstStyle/>
          <a:p>
            <a:pPr>
              <a:lnSpc>
                <a:spcPct val="100000"/>
              </a:lnSpc>
            </a:pPr>
            <a:r>
              <a:rPr lang="es-ES" sz="1500"/>
              <a:t>1. Integra múltiples paradigmas de </a:t>
            </a:r>
            <a:r>
              <a:rPr lang="es-ES" sz="1500" err="1"/>
              <a:t>clustering</a:t>
            </a:r>
            <a:r>
              <a:rPr lang="es-ES" sz="1500"/>
              <a:t> (competitivo, topológico, probabilístico, jerárquico, difuso) para clasificación de activos financieros, demostrando que la red competitiva optimizada con PSO (</a:t>
            </a:r>
            <a:r>
              <a:rPr lang="es-ES" sz="1500" err="1"/>
              <a:t>RedCompPSO</a:t>
            </a:r>
            <a:r>
              <a:rPr lang="es-ES" sz="1500"/>
              <a:t>) alcanza el mejor F1-Score de 0.9166. </a:t>
            </a:r>
          </a:p>
          <a:p>
            <a:pPr>
              <a:lnSpc>
                <a:spcPct val="100000"/>
              </a:lnSpc>
            </a:pPr>
            <a:r>
              <a:rPr lang="es-ES" sz="1500"/>
              <a:t>2. Optimiza </a:t>
            </a:r>
            <a:r>
              <a:rPr lang="es-ES" sz="1500" err="1"/>
              <a:t>hiperparámetros</a:t>
            </a:r>
            <a:r>
              <a:rPr lang="es-ES" sz="1500"/>
              <a:t> y pesos de ensemble mediante metaheurísticas (PSO, GA), logrando una mejora del 10% sobre los métodos base. </a:t>
            </a:r>
          </a:p>
          <a:p>
            <a:pPr>
              <a:lnSpc>
                <a:spcPct val="100000"/>
              </a:lnSpc>
            </a:pPr>
            <a:r>
              <a:rPr lang="es-ES" sz="1500"/>
              <a:t>3. Combina predicción </a:t>
            </a:r>
            <a:r>
              <a:rPr lang="es-ES" sz="1500" err="1"/>
              <a:t>multi-escala</a:t>
            </a:r>
            <a:r>
              <a:rPr lang="es-ES" sz="1500"/>
              <a:t> (lineal, no lineal, temporal), encontrando que el modelo lineal ADALINE supera a arquitecturas más complejas (MLP, LSTM) para los activos analizados. </a:t>
            </a:r>
          </a:p>
          <a:p>
            <a:pPr>
              <a:lnSpc>
                <a:spcPct val="100000"/>
              </a:lnSpc>
            </a:pPr>
            <a:r>
              <a:rPr lang="es-ES" sz="1500"/>
              <a:t>4. Cierra el ciclo con optimización de portafolio basada en teoría de Markowitz y PSO, logrando un Sharpe Ratio de 1.0953.</a:t>
            </a:r>
            <a:endParaRPr lang="en-US" sz="1500"/>
          </a:p>
        </p:txBody>
      </p:sp>
    </p:spTree>
    <p:extLst>
      <p:ext uri="{BB962C8B-B14F-4D97-AF65-F5344CB8AC3E}">
        <p14:creationId xmlns:p14="http://schemas.microsoft.com/office/powerpoint/2010/main" val="2057758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Freeform: Shape 103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3" name="Freeform: Shape 1032">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35" name="Rectangle 1034">
            <a:extLst>
              <a:ext uri="{FF2B5EF4-FFF2-40B4-BE49-F238E27FC236}">
                <a16:creationId xmlns:a16="http://schemas.microsoft.com/office/drawing/2014/main" id="{E73AF435-44C8-C44B-9352-ACFA393E2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CA7C5C-41D4-F95F-6459-002CFC1E3111}"/>
              </a:ext>
            </a:extLst>
          </p:cNvPr>
          <p:cNvSpPr>
            <a:spLocks noGrp="1"/>
          </p:cNvSpPr>
          <p:nvPr>
            <p:ph type="title"/>
          </p:nvPr>
        </p:nvSpPr>
        <p:spPr>
          <a:xfrm>
            <a:off x="521208" y="978407"/>
            <a:ext cx="4358503" cy="3137941"/>
          </a:xfrm>
        </p:spPr>
        <p:txBody>
          <a:bodyPr vert="horz" lIns="91440" tIns="45720" rIns="91440" bIns="45720" rtlCol="0" anchor="t">
            <a:normAutofit/>
          </a:bodyPr>
          <a:lstStyle/>
          <a:p>
            <a:r>
              <a:rPr lang="en-US" sz="6000"/>
              <a:t>GRACIAS </a:t>
            </a:r>
          </a:p>
        </p:txBody>
      </p:sp>
      <p:sp>
        <p:nvSpPr>
          <p:cNvPr id="1037" name="Freeform: Shape 1036">
            <a:extLst>
              <a:ext uri="{FF2B5EF4-FFF2-40B4-BE49-F238E27FC236}">
                <a16:creationId xmlns:a16="http://schemas.microsoft.com/office/drawing/2014/main" id="{288058DF-7580-C88F-23F0-429412309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495" y="508090"/>
            <a:ext cx="4288568" cy="149279"/>
          </a:xfrm>
          <a:custGeom>
            <a:avLst/>
            <a:gdLst>
              <a:gd name="connsiteX0" fmla="*/ 0 w 6117427"/>
              <a:gd name="connsiteY0" fmla="*/ 0 h 149279"/>
              <a:gd name="connsiteX1" fmla="*/ 6117427 w 6117427"/>
              <a:gd name="connsiteY1" fmla="*/ 0 h 149279"/>
              <a:gd name="connsiteX2" fmla="*/ 6117427 w 6117427"/>
              <a:gd name="connsiteY2" fmla="*/ 149279 h 149279"/>
              <a:gd name="connsiteX3" fmla="*/ 0 w 611742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117427" h="149279">
                <a:moveTo>
                  <a:pt x="0" y="0"/>
                </a:moveTo>
                <a:lnTo>
                  <a:pt x="6117427" y="0"/>
                </a:lnTo>
                <a:lnTo>
                  <a:pt x="611742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9" name="Freeform: Shape 1038">
            <a:extLst>
              <a:ext uri="{FF2B5EF4-FFF2-40B4-BE49-F238E27FC236}">
                <a16:creationId xmlns:a16="http://schemas.microsoft.com/office/drawing/2014/main" id="{43F82943-4565-9E0E-E9DB-5B7B417E6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07749"/>
            <a:ext cx="4307405" cy="45720"/>
          </a:xfrm>
          <a:custGeom>
            <a:avLst/>
            <a:gdLst>
              <a:gd name="connsiteX0" fmla="*/ 0 w 6144298"/>
              <a:gd name="connsiteY0" fmla="*/ 0 h 45720"/>
              <a:gd name="connsiteX1" fmla="*/ 5021183 w 6144298"/>
              <a:gd name="connsiteY1" fmla="*/ 0 h 45720"/>
              <a:gd name="connsiteX2" fmla="*/ 5021183 w 6144298"/>
              <a:gd name="connsiteY2" fmla="*/ 1 h 45720"/>
              <a:gd name="connsiteX3" fmla="*/ 6144298 w 6144298"/>
              <a:gd name="connsiteY3" fmla="*/ 1 h 45720"/>
              <a:gd name="connsiteX4" fmla="*/ 6144298 w 6144298"/>
              <a:gd name="connsiteY4" fmla="*/ 45720 h 45720"/>
              <a:gd name="connsiteX5" fmla="*/ 1123115 w 6144298"/>
              <a:gd name="connsiteY5" fmla="*/ 45720 h 45720"/>
              <a:gd name="connsiteX6" fmla="*/ 1123115 w 6144298"/>
              <a:gd name="connsiteY6" fmla="*/ 45719 h 45720"/>
              <a:gd name="connsiteX7" fmla="*/ 0 w 6144298"/>
              <a:gd name="connsiteY7" fmla="*/ 45719 h 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298" h="45720">
                <a:moveTo>
                  <a:pt x="0" y="0"/>
                </a:moveTo>
                <a:lnTo>
                  <a:pt x="5021183" y="0"/>
                </a:lnTo>
                <a:lnTo>
                  <a:pt x="5021183" y="1"/>
                </a:lnTo>
                <a:lnTo>
                  <a:pt x="6144298" y="1"/>
                </a:lnTo>
                <a:lnTo>
                  <a:pt x="6144298" y="45720"/>
                </a:lnTo>
                <a:lnTo>
                  <a:pt x="1123115" y="45720"/>
                </a:lnTo>
                <a:lnTo>
                  <a:pt x="112311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Artificial intelligence funny: Más de 14,623 ilustraciones y dibujos de  stock con licencia libres de regalías | Shutterstock">
            <a:extLst>
              <a:ext uri="{FF2B5EF4-FFF2-40B4-BE49-F238E27FC236}">
                <a16:creationId xmlns:a16="http://schemas.microsoft.com/office/drawing/2014/main" id="{C27E934F-F169-B6F1-2ADF-15FAD85FB8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 b="8385"/>
          <a:stretch>
            <a:fillRect/>
          </a:stretch>
        </p:blipFill>
        <p:spPr bwMode="auto">
          <a:xfrm>
            <a:off x="5398477" y="508090"/>
            <a:ext cx="6271028" cy="5745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9079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1236</Words>
  <Application>Microsoft Office PowerPoint</Application>
  <PresentationFormat>Widescreen</PresentationFormat>
  <Paragraphs>100</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Bierstadt</vt:lpstr>
      <vt:lpstr>Neue Haas Grotesk Text Pro</vt:lpstr>
      <vt:lpstr>GestaltVTI</vt:lpstr>
      <vt:lpstr>Sistema Híbrido para Clasificación de Riesgo y Predicción Financiera.</vt:lpstr>
      <vt:lpstr>Definición del Problema y Objetivos</vt:lpstr>
      <vt:lpstr>Arquitectura del Sistema</vt:lpstr>
      <vt:lpstr>Ingeniería de Características y "Ground Truth"</vt:lpstr>
      <vt:lpstr>Algoritmos de Clustering</vt:lpstr>
      <vt:lpstr>Optimización Metaheurística (El "Cerebro" del Sistema)</vt:lpstr>
      <vt:lpstr>Modelos Predictivos de Series Temporales</vt:lpstr>
      <vt:lpstr>Resultados Experimentales - Clustering</vt:lpstr>
      <vt:lpstr>Métricas por Clase del Mejor Modelo</vt:lpstr>
      <vt:lpstr>Clasificación en el Espacio Riesgo-Retorno</vt:lpstr>
      <vt:lpstr>Selección de Activos y Configuración del Portafolio</vt:lpstr>
      <vt:lpstr>Comparación de Modelos Predictivos</vt:lpstr>
      <vt:lpstr>Comparación de Modelos Predictivos</vt:lpstr>
      <vt:lpstr>Resumen de Resultados y Conclusiones </vt:lpstr>
      <vt:lpstr>GRACIAS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GUZMAN ORDUÑO, ROBERTO CARLOS</dc:creator>
  <cp:lastModifiedBy>GUZMAN ORDUÑO, ROBERTO CARLOS</cp:lastModifiedBy>
  <cp:revision>3</cp:revision>
  <dcterms:created xsi:type="dcterms:W3CDTF">2025-12-05T17:38:00Z</dcterms:created>
  <dcterms:modified xsi:type="dcterms:W3CDTF">2025-12-05T21:52:01Z</dcterms:modified>
</cp:coreProperties>
</file>